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8AF3DF-7348-49FC-AE75-8EB5EBE1FCA2}">
  <a:tblStyle styleId="{958AF3DF-7348-49FC-AE75-8EB5EBE1FCA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Mình sẽ không trình bày theo kiểu liệt kê công thức, mà đi theo mạch: bài toán cần gì, cách làm đơn giản nhất là gì, nó hỏng ở đâu, và hỏng đó được vá bằng cách nào.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Nói gọn: input là một file mô tả thị trường, output là lời khuyên đầu tư cụ thể.</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Dù chia thành nhiều file, chương trình chỉ là sáu bước nối tiếp. Bước 3 và bước 4 là nơi chứa toàn bộ lý thuyết.</a:t>
            </a:r>
            <a:endParaRPr/>
          </a:p>
        </p:txBody>
      </p:sp>
      <p:sp>
        <p:nvSpPr>
          <p:cNvPr id="31" name="Google Shape;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bản đồ của cả bài trình bày. Mọi thứ phía sau đều là một mắt xích trong chuỗi vấn đề - giải pháp.</a:t>
            </a:r>
            <a:endParaRPr/>
          </a:p>
        </p:txBody>
      </p:sp>
      <p:sp>
        <p:nvSpPr>
          <p:cNvPr id="38" name="Google Shape;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Chuyển sang phần một.</a:t>
            </a:r>
            <a:endParaRPr/>
          </a:p>
        </p:txBody>
      </p:sp>
      <p:sp>
        <p:nvSpPr>
          <p:cNvPr id="46" name="Google Shape;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 là trung bình có trọng số, rất trực giác. Phần đáng nói nằm ở công thức rủi ro.</a:t>
            </a:r>
            <a:endParaRPr/>
          </a:p>
        </p:txBody>
      </p:sp>
      <p:sp>
        <p:nvSpPr>
          <p:cNvPr id="52" name="Google Shape;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Nếu bị hỏi vì sao phải chia vốn ra nhiều mã, câu trả lời nằm ở số hạng chéo âm.</a:t>
            </a:r>
            <a:endParaRPr/>
          </a:p>
        </p:txBody>
      </p:sp>
      <p:sp>
        <p:nvSpPr>
          <p:cNvPr id="63" name="Google Shape;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kỹ thuật vô hướng hoá. Nó giải quyết được vấn đề so sánh, nhưng lập tức đẻ ra câu hỏi mới ở slide sau.</a:t>
            </a:r>
            <a:endParaRPr/>
          </a:p>
        </p:txBody>
      </p:sp>
      <p:sp>
        <p:nvSpPr>
          <p:cNvPr id="72" name="Google Shape;7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câu hỏi mình cố ý treo lại. Nó sẽ được trả lời ở phần biên hiệu quả.</a:t>
            </a:r>
            <a:endParaRPr/>
          </a:p>
        </p:txBody>
      </p:sp>
      <p:sp>
        <p:nvSpPr>
          <p:cNvPr id="83" name="Google Shape;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delta_i là biến nhị phân: tài sản i có được chọn hay không. Ràng buộc thứ hai gọi là ràng buộc lực lượng - cardinality.</a:t>
            </a:r>
            <a:endParaRPr/>
          </a:p>
        </p:txBody>
      </p:sp>
      <p:sp>
        <p:nvSpPr>
          <p:cNvPr id="91" name="Google Shape;9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Định nghĩa heuristic: từ bỏ nghiệm tối ưu toàn cục, đổi lấy nghiệm đủ tốt trong thời gian chấp nhận được.</a:t>
            </a:r>
            <a:endParaRPr/>
          </a:p>
        </p:txBody>
      </p:sp>
      <p:sp>
        <p:nvSpPr>
          <p:cNvPr id="101" name="Google Shape;1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Phần dài nhất, gồm 9 vấn đề nối tiếp nhau.</a:t>
            </a:r>
            <a:endParaRPr/>
          </a:p>
        </p:txBody>
      </p:sp>
      <p:sp>
        <p:nvSpPr>
          <p:cNvPr id="110" name="Google Shape;11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Khi chưa biết gì về cấu trúc bài toán, đây là cách ít giả định nhất - và vì thế áp dụng được cho mọi bài toán.</a:t>
            </a:r>
            <a:endParaRPr/>
          </a:p>
        </p:txBody>
      </p:sp>
      <p:sp>
        <p:nvSpPr>
          <p:cNvPr id="116" name="Google Shape;11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Ý tưởng cốt lõi: thay vì kiểm tra rồi sửa, ta chọn biểu diễn sao cho không thể sai.</a:t>
            </a:r>
            <a:endParaRPr/>
          </a:p>
        </p:txBody>
      </p:sp>
      <p:sp>
        <p:nvSpPr>
          <p:cNvPr id="125" name="Google Shape;12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công thức trung tâm của cả chương trình. Nếu chỉ nhớ một slide thì nhớ slide này.</a:t>
            </a:r>
            <a:endParaRPr/>
          </a:p>
        </p:txBody>
      </p:sp>
      <p:sp>
        <p:nvSpPr>
          <p:cNvPr id="134" name="Google Shape;1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Vòng lặp này chỉ phát huy tác dụng khi siết trần xuống, ví dụ delta = 0.2.</a:t>
            </a:r>
            <a:endParaRPr/>
          </a:p>
        </p:txBody>
      </p:sp>
      <p:sp>
        <p:nvSpPr>
          <p:cNvPr id="143" name="Google Shape;14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Không có baseline thì không thể nói một thuật toán là tốt hay dở.</a:t>
            </a:r>
            <a:endParaRPr/>
          </a:p>
        </p:txBody>
      </p:sp>
      <p:sp>
        <p:nvSpPr>
          <p:cNvPr id="154" name="Google Shape;15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bước nhảy về tư duy: từ lấy mẫu toàn cục sang di chuyển cục bộ.</a:t>
            </a:r>
            <a:endParaRPr/>
          </a:p>
        </p:txBody>
      </p:sp>
      <p:sp>
        <p:nvSpPr>
          <p:cNvPr id="165" name="Google Shape;1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Khác biệt duy nhất so với leo đồi là bộ nhớ ngắn hạn - danh sách cấm.</a:t>
            </a:r>
            <a:endParaRPr/>
          </a:p>
        </p:txBody>
      </p:sp>
      <p:sp>
        <p:nvSpPr>
          <p:cNvPr id="174" name="Google Shape;17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lúc mẹo đồng bộ s phát huy tác dụng.</a:t>
            </a:r>
            <a:endParaRPr/>
          </a:p>
        </p:txBody>
      </p:sp>
      <p:sp>
        <p:nvSpPr>
          <p:cNvPr id="183" name="Google Shape;18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Tài sản nào liên tục bị ép giảm tỷ trọng sẽ tự bị đào thải - một dạng chọn lọc tự nhiên nằm ngay trong thuật toán.</a:t>
            </a:r>
            <a:endParaRPr/>
          </a:p>
        </p:txBody>
      </p:sp>
      <p:sp>
        <p:nvSpPr>
          <p:cNvPr id="192" name="Google Shape;19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Quay đầu - đi xuống rồi lập tức đi lên chỗ cũ - là dạng quẩn phổ biến nhất.</a:t>
            </a:r>
            <a:endParaRPr/>
          </a:p>
        </p:txBody>
      </p:sp>
      <p:sp>
        <p:nvSpPr>
          <p:cNvPr id="203" name="Google Shape;20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Chỉ hai dòng nhưng là một cơ chế tiêu chuẩn của Tabu Search.</a:t>
            </a:r>
            <a:endParaRPr/>
          </a:p>
        </p:txBody>
      </p:sp>
      <p:sp>
        <p:nvSpPr>
          <p:cNvPr id="212" name="Google Shape;21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Kết quả ghi trong BEST_L_STAR. Xu hướng: thị trường càng lớn càng cần nhiệm kỳ cấm dài hơn - Nikkei dùng 10.</a:t>
            </a:r>
            <a:endParaRPr/>
          </a:p>
        </p:txBody>
      </p:sp>
      <p:sp>
        <p:nvSpPr>
          <p:cNvPr id="223" name="Google Shape;22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câu hỏi phản biện hay gặp nhất, và code đã xử lý đúng.</a:t>
            </a:r>
            <a:endParaRPr/>
          </a:p>
        </p:txBody>
      </p:sp>
      <p:sp>
        <p:nvSpPr>
          <p:cNvPr id="232" name="Google Shape;23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Quay lại câu hỏi đã treo từ đầu.</a:t>
            </a:r>
            <a:endParaRPr/>
          </a:p>
        </p:txBody>
      </p:sp>
      <p:sp>
        <p:nvSpPr>
          <p:cNvPr id="243" name="Google Shape;24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Mỗi nghiệm tối ưu ứng với một lambda là một điểm trên biên hiệu quả.</a:t>
            </a:r>
            <a:endParaRPr/>
          </a:p>
        </p:txBody>
      </p:sp>
      <p:sp>
        <p:nvSpPr>
          <p:cNvPr id="249" name="Google Shape;24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Hàm dominated() lọc O(|H|^2) rồi xuất 4 file Excel - chính là lời khuyên đầu tư cụ thể.</a:t>
            </a:r>
            <a:endParaRPr/>
          </a:p>
        </p:txBody>
      </p:sp>
      <p:sp>
        <p:nvSpPr>
          <p:cNvPr id="260" name="Google Shape;26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cũng là lý do kho H quan trọng: điểm lõm vẫn có thể được ghé qua dọc đường và ghi lại.</a:t>
            </a:r>
            <a:endParaRPr/>
          </a:p>
        </p:txBody>
      </p:sp>
      <p:sp>
        <p:nvSpPr>
          <p:cNvPr id="271" name="Google Shape;27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Nếu có kết quả chạy thật thì chèn ảnh boxplot _Q3_R.png vào slide này.</a:t>
            </a:r>
            <a:endParaRPr/>
          </a:p>
        </p:txBody>
      </p:sp>
      <p:sp>
        <p:nvSpPr>
          <p:cNvPr id="280" name="Google Shape;28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Bốn thí nghiệm trong main.py không phải tuỳ tiện - mỗi cái trả lời một vấn đề cụ thể trong chuỗi.</a:t>
            </a:r>
            <a:endParaRPr/>
          </a:p>
        </p:txBody>
      </p:sp>
      <p:sp>
        <p:nvSpPr>
          <p:cNvPr id="289" name="Google Shape;28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txBox="1"/>
          <p:nvPr/>
        </p:nvSpPr>
        <p:spPr>
          <a:xfrm>
            <a:off x="731520" y="1280160"/>
            <a:ext cx="7680960" cy="1371600"/>
          </a:xfrm>
          <a:prstGeom prst="rect">
            <a:avLst/>
          </a:prstGeom>
          <a:noFill/>
          <a:ln>
            <a:noFill/>
          </a:ln>
        </p:spPr>
        <p:txBody>
          <a:bodyPr anchorCtr="0" anchor="ctr" bIns="0" lIns="0" spcFirstLastPara="1" rIns="0" wrap="square" tIns="0">
            <a:noAutofit/>
          </a:bodyPr>
          <a:lstStyle/>
          <a:p>
            <a:pPr indent="0" lvl="0" marL="0" marR="0" rtl="0" algn="ctr">
              <a:lnSpc>
                <a:spcPct val="123529"/>
              </a:lnSpc>
              <a:spcBef>
                <a:spcPts val="0"/>
              </a:spcBef>
              <a:spcAft>
                <a:spcPts val="0"/>
              </a:spcAft>
              <a:buClr>
                <a:srgbClr val="1F3864"/>
              </a:buClr>
              <a:buSzPts val="3400"/>
              <a:buFont typeface="Calibri"/>
              <a:buNone/>
            </a:pPr>
            <a:r>
              <a:rPr b="1" i="0" lang="en-US" sz="3400" u="none" cap="none" strike="noStrike">
                <a:solidFill>
                  <a:srgbClr val="1F3864"/>
                </a:solidFill>
                <a:latin typeface="Calibri"/>
                <a:ea typeface="Calibri"/>
                <a:cs typeface="Calibri"/>
                <a:sym typeface="Calibri"/>
              </a:rPr>
              <a:t>Tối ưu hoá danh mục đầu tư</a:t>
            </a:r>
            <a:endParaRPr b="0" i="0" sz="3400" u="none" cap="none" strike="noStrike">
              <a:solidFill>
                <a:schemeClr val="dk1"/>
              </a:solidFill>
              <a:latin typeface="Calibri"/>
              <a:ea typeface="Calibri"/>
              <a:cs typeface="Calibri"/>
              <a:sym typeface="Calibri"/>
            </a:endParaRPr>
          </a:p>
          <a:p>
            <a:pPr indent="0" lvl="0" marL="0" marR="0" rtl="0" algn="ctr">
              <a:lnSpc>
                <a:spcPct val="123529"/>
              </a:lnSpc>
              <a:spcBef>
                <a:spcPts val="0"/>
              </a:spcBef>
              <a:spcAft>
                <a:spcPts val="0"/>
              </a:spcAft>
              <a:buClr>
                <a:srgbClr val="1F3864"/>
              </a:buClr>
              <a:buSzPts val="3400"/>
              <a:buFont typeface="Calibri"/>
              <a:buNone/>
            </a:pPr>
            <a:r>
              <a:rPr b="1" i="0" lang="en-US" sz="3400" u="none" cap="none" strike="noStrike">
                <a:solidFill>
                  <a:srgbClr val="1F3864"/>
                </a:solidFill>
                <a:latin typeface="Calibri"/>
                <a:ea typeface="Calibri"/>
                <a:cs typeface="Calibri"/>
                <a:sym typeface="Calibri"/>
              </a:rPr>
              <a:t>có ràng buộc lực lượng</a:t>
            </a:r>
            <a:endParaRPr b="0" i="0" sz="3400" u="none" cap="none" strike="noStrike">
              <a:solidFill>
                <a:schemeClr val="dk1"/>
              </a:solidFill>
              <a:latin typeface="Calibri"/>
              <a:ea typeface="Calibri"/>
              <a:cs typeface="Calibri"/>
              <a:sym typeface="Calibri"/>
            </a:endParaRPr>
          </a:p>
        </p:txBody>
      </p:sp>
      <p:sp>
        <p:nvSpPr>
          <p:cNvPr id="17" name="Google Shape;17;p3"/>
          <p:cNvSpPr txBox="1"/>
          <p:nvPr/>
        </p:nvSpPr>
        <p:spPr>
          <a:xfrm>
            <a:off x="731520" y="2788920"/>
            <a:ext cx="7680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700"/>
              <a:buFont typeface="Calibri"/>
              <a:buNone/>
            </a:pPr>
            <a:r>
              <a:rPr b="0" i="0" lang="en-US" sz="1700" u="none" cap="none" strike="noStrike">
                <a:solidFill>
                  <a:srgbClr val="555555"/>
                </a:solidFill>
                <a:latin typeface="Calibri"/>
                <a:ea typeface="Calibri"/>
                <a:cs typeface="Calibri"/>
                <a:sym typeface="Calibri"/>
              </a:rPr>
              <a:t>Bài toán lớn → cách làm đơn giản nhất → vấn đề nảy sinh → cách khắc phục</a:t>
            </a:r>
            <a:endParaRPr b="0" i="0" sz="1700" u="none" cap="none" strike="noStrike">
              <a:solidFill>
                <a:schemeClr val="dk1"/>
              </a:solidFill>
              <a:latin typeface="Calibri"/>
              <a:ea typeface="Calibri"/>
              <a:cs typeface="Calibri"/>
              <a:sym typeface="Calibri"/>
            </a:endParaRPr>
          </a:p>
        </p:txBody>
      </p:sp>
      <p:sp>
        <p:nvSpPr>
          <p:cNvPr id="18" name="Google Shape;18;p3"/>
          <p:cNvSpPr txBox="1"/>
          <p:nvPr/>
        </p:nvSpPr>
        <p:spPr>
          <a:xfrm>
            <a:off x="731520" y="3520440"/>
            <a:ext cx="7680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500"/>
              <a:buFont typeface="Calibri"/>
              <a:buNone/>
            </a:pPr>
            <a:r>
              <a:rPr b="0" i="1" lang="en-US" sz="1500" u="none" cap="none" strike="noStrike">
                <a:solidFill>
                  <a:srgbClr val="1A1A1A"/>
                </a:solidFill>
                <a:latin typeface="Calibri"/>
                <a:ea typeface="Calibri"/>
                <a:cs typeface="Calibri"/>
                <a:sym typeface="Calibri"/>
              </a:rPr>
              <a:t>Diễn giải lý thuyết đằng sau mã nguồn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4"/>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Chương trình này thực ra đang làm gì?</a:t>
            </a:r>
            <a:endParaRPr b="0" i="0" sz="2600" u="none" cap="none" strike="noStrike">
              <a:solidFill>
                <a:schemeClr val="dk1"/>
              </a:solidFill>
              <a:latin typeface="Calibri"/>
              <a:ea typeface="Calibri"/>
              <a:cs typeface="Calibri"/>
              <a:sym typeface="Calibri"/>
            </a:endParaRPr>
          </a:p>
        </p:txBody>
      </p:sp>
      <p:sp>
        <p:nvSpPr>
          <p:cNvPr id="25" name="Google Shape;25;p4"/>
          <p:cNvSpPr/>
          <p:nvPr/>
        </p:nvSpPr>
        <p:spPr>
          <a:xfrm>
            <a:off x="548640" y="1051560"/>
            <a:ext cx="8046720" cy="71323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txBox="1"/>
          <p:nvPr/>
        </p:nvSpPr>
        <p:spPr>
          <a:xfrm>
            <a:off x="548640" y="1051560"/>
            <a:ext cx="80467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700"/>
              <a:buFont typeface="Cambria"/>
              <a:buNone/>
            </a:pPr>
            <a:r>
              <a:rPr b="0" i="0" lang="en-US" sz="1700" u="none" cap="none" strike="noStrike">
                <a:solidFill>
                  <a:srgbClr val="1F3864"/>
                </a:solidFill>
                <a:latin typeface="Cambria"/>
                <a:ea typeface="Cambria"/>
                <a:cs typeface="Cambria"/>
                <a:sym typeface="Cambria"/>
              </a:rPr>
              <a:t>File mô tả thị trường   →   10 tài sản nên mua + tỷ trọng mỗi tài sản</a:t>
            </a:r>
            <a:endParaRPr b="0" i="0" sz="1700" u="none" cap="none" strike="noStrike">
              <a:solidFill>
                <a:schemeClr val="dk1"/>
              </a:solidFill>
              <a:latin typeface="Calibri"/>
              <a:ea typeface="Calibri"/>
              <a:cs typeface="Calibri"/>
              <a:sym typeface="Calibri"/>
            </a:endParaRPr>
          </a:p>
        </p:txBody>
      </p:sp>
      <p:sp>
        <p:nvSpPr>
          <p:cNvPr id="27" name="Google Shape;27;p4"/>
          <p:cNvSpPr txBox="1"/>
          <p:nvPr/>
        </p:nvSpPr>
        <p:spPr>
          <a:xfrm>
            <a:off x="548640" y="1965960"/>
            <a:ext cx="804672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700"/>
              <a:buFont typeface="Calibri"/>
              <a:buChar char="•"/>
            </a:pPr>
            <a:r>
              <a:rPr b="0" i="0" lang="en-US" sz="1700" u="none" cap="none" strike="noStrike">
                <a:solidFill>
                  <a:srgbClr val="1A1A1A"/>
                </a:solidFill>
                <a:latin typeface="Calibri"/>
                <a:ea typeface="Calibri"/>
                <a:cs typeface="Calibri"/>
                <a:sym typeface="Calibri"/>
              </a:rPr>
              <a:t>Đầu vào: N tài sản, lợi suất kỳ vọng và độ lệch chuẩn của từng tài sản, tương quan từng cặp.</a:t>
            </a:r>
            <a:endParaRPr b="0" i="0" sz="17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700"/>
              <a:buFont typeface="Calibri"/>
              <a:buChar char="•"/>
            </a:pPr>
            <a:r>
              <a:rPr b="0" i="0" lang="en-US" sz="1700" u="none" cap="none" strike="noStrike">
                <a:solidFill>
                  <a:srgbClr val="1A1A1A"/>
                </a:solidFill>
                <a:latin typeface="Calibri"/>
                <a:ea typeface="Calibri"/>
                <a:cs typeface="Calibri"/>
                <a:sym typeface="Calibri"/>
              </a:rPr>
              <a:t>Đầu ra: danh mục 10 tài sản kèm tỷ trọng; thống kê so sánh hai thuật toán; biểu đồ biên hiệu quả; file Excel liệt kê mọi danh mục hiệu quả.</a:t>
            </a:r>
            <a:endParaRPr b="0" i="0" sz="17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700"/>
              <a:buFont typeface="Calibri"/>
              <a:buChar char="•"/>
            </a:pPr>
            <a:r>
              <a:rPr b="0" i="0" lang="en-US" sz="1700" u="none" cap="none" strike="noStrike">
                <a:solidFill>
                  <a:srgbClr val="1A1A1A"/>
                </a:solidFill>
                <a:latin typeface="Calibri"/>
                <a:ea typeface="Calibri"/>
                <a:cs typeface="Calibri"/>
                <a:sym typeface="Calibri"/>
              </a:rPr>
              <a:t>Vốn giả định: 1 tỷ đồng.</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5"/>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Toàn bộ hệ thống chỉ có sáu bước</a:t>
            </a:r>
            <a:endParaRPr b="0" i="0" sz="2600" u="none" cap="none" strike="noStrike">
              <a:solidFill>
                <a:schemeClr val="dk1"/>
              </a:solidFill>
              <a:latin typeface="Calibri"/>
              <a:ea typeface="Calibri"/>
              <a:cs typeface="Calibri"/>
              <a:sym typeface="Calibri"/>
            </a:endParaRPr>
          </a:p>
        </p:txBody>
      </p:sp>
      <p:graphicFrame>
        <p:nvGraphicFramePr>
          <p:cNvPr id="34" name="Google Shape;34;p5"/>
          <p:cNvGraphicFramePr/>
          <p:nvPr/>
        </p:nvGraphicFramePr>
        <p:xfrm>
          <a:off x="548640" y="1051560"/>
          <a:ext cx="3000000" cy="3000000"/>
        </p:xfrm>
        <a:graphic>
          <a:graphicData uri="http://schemas.openxmlformats.org/drawingml/2006/table">
            <a:tbl>
              <a:tblPr>
                <a:noFill/>
                <a:tableStyleId>{958AF3DF-7348-49FC-AE75-8EB5EBE1FCA2}</a:tableStyleId>
              </a:tblPr>
              <a:tblGrid>
                <a:gridCol w="1554475"/>
                <a:gridCol w="4114800"/>
                <a:gridCol w="2377450"/>
              </a:tblGrid>
              <a:tr h="3840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Bước</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Làm gì</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Trong code</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1. Đọc dữ liệu</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Dựng vector μ và ma trận hiệp phương sai Σ</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load_dataset</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2. Sinh nghiệm</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Tạo một danh mục ứng viên</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create_candidate</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3. Chấm điểm</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Tính R, σ² và điểm tổng hợp f</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evaluate</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4. Tìm kiếm</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Lặp bước 2–3 theo một chiến lược</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random_search, tabu_search</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5. Lọc</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Bỏ danh mục bị lấn át, giữ biên hiệu quả</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dominated</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6. Báo cáo</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Thống kê, boxplot, biểu đồ, Excel</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reporting, plotting</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6"/>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Sáu bước đó quy về ba câu hỏi</a:t>
            </a:r>
            <a:endParaRPr b="0" i="0" sz="2600" u="none" cap="none" strike="noStrike">
              <a:solidFill>
                <a:schemeClr val="dk1"/>
              </a:solidFill>
              <a:latin typeface="Calibri"/>
              <a:ea typeface="Calibri"/>
              <a:cs typeface="Calibri"/>
              <a:sym typeface="Calibri"/>
            </a:endParaRPr>
          </a:p>
        </p:txBody>
      </p:sp>
      <p:sp>
        <p:nvSpPr>
          <p:cNvPr id="41" name="Google Shape;41;p6"/>
          <p:cNvSpPr txBox="1"/>
          <p:nvPr/>
        </p:nvSpPr>
        <p:spPr>
          <a:xfrm>
            <a:off x="548640" y="1188720"/>
            <a:ext cx="8046720" cy="3520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900"/>
              <a:buFont typeface="Calibri"/>
              <a:buChar char="•"/>
            </a:pPr>
            <a:r>
              <a:rPr b="0" i="0" lang="en-US" sz="1900" u="none" cap="none" strike="noStrike">
                <a:solidFill>
                  <a:srgbClr val="1A1A1A"/>
                </a:solidFill>
                <a:latin typeface="Calibri"/>
                <a:ea typeface="Calibri"/>
                <a:cs typeface="Calibri"/>
                <a:sym typeface="Calibri"/>
              </a:rPr>
              <a:t>1. Đo "danh mục tốt" bằng gì?  → Phần II</a:t>
            </a:r>
            <a:endParaRPr b="0" i="0" sz="19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900"/>
              <a:buFont typeface="Calibri"/>
              <a:buChar char="•"/>
            </a:pPr>
            <a:r>
              <a:rPr b="0" i="0" lang="en-US" sz="1900" u="none" cap="none" strike="noStrike">
                <a:solidFill>
                  <a:srgbClr val="1A1A1A"/>
                </a:solidFill>
                <a:latin typeface="Calibri"/>
                <a:ea typeface="Calibri"/>
                <a:cs typeface="Calibri"/>
                <a:sym typeface="Calibri"/>
              </a:rPr>
              <a:t>2. Tìm nghiệm tốt bằng cách nào?  → Phần III</a:t>
            </a:r>
            <a:endParaRPr b="0" i="0" sz="19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900"/>
              <a:buFont typeface="Calibri"/>
              <a:buChar char="•"/>
            </a:pPr>
            <a:r>
              <a:rPr b="0" i="0" lang="en-US" sz="1900" u="none" cap="none" strike="noStrike">
                <a:solidFill>
                  <a:srgbClr val="1A1A1A"/>
                </a:solidFill>
                <a:latin typeface="Calibri"/>
                <a:ea typeface="Calibri"/>
                <a:cs typeface="Calibri"/>
                <a:sym typeface="Calibri"/>
              </a:rPr>
              <a:t>3. Làm sao phục vụ mọi khẩu vị rủi ro, chứ không chỉ một?  → Phần IV</a:t>
            </a:r>
            <a:endParaRPr b="0" i="0" sz="1900" u="none" cap="none" strike="noStrike">
              <a:solidFill>
                <a:schemeClr val="dk1"/>
              </a:solidFill>
              <a:latin typeface="Calibri"/>
              <a:ea typeface="Calibri"/>
              <a:cs typeface="Calibri"/>
              <a:sym typeface="Calibri"/>
            </a:endParaRPr>
          </a:p>
        </p:txBody>
      </p:sp>
      <p:sp>
        <p:nvSpPr>
          <p:cNvPr id="42" name="Google Shape;42;p6"/>
          <p:cNvSpPr txBox="1"/>
          <p:nvPr/>
        </p:nvSpPr>
        <p:spPr>
          <a:xfrm>
            <a:off x="548640" y="3017520"/>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Mỗi lần trả lời được một câu hỏi, lại lộ ra một vấn đề mới. Phần còn lại của bài là chuỗi 15 vấn đề đó.</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7"/>
          <p:cNvSpPr txBox="1"/>
          <p:nvPr/>
        </p:nvSpPr>
        <p:spPr>
          <a:xfrm>
            <a:off x="731520" y="1828800"/>
            <a:ext cx="7680960" cy="1280160"/>
          </a:xfrm>
          <a:prstGeom prst="rect">
            <a:avLst/>
          </a:prstGeom>
          <a:noFill/>
          <a:ln>
            <a:noFill/>
          </a:ln>
        </p:spPr>
        <p:txBody>
          <a:bodyPr anchorCtr="0" anchor="ctr" bIns="0" lIns="0" spcFirstLastPara="1" rIns="0" wrap="square" tIns="0">
            <a:noAutofit/>
          </a:bodyPr>
          <a:lstStyle/>
          <a:p>
            <a:pPr indent="0" lvl="0" marL="0" marR="0" rtl="0" algn="ctr">
              <a:lnSpc>
                <a:spcPct val="142857"/>
              </a:lnSpc>
              <a:spcBef>
                <a:spcPts val="0"/>
              </a:spcBef>
              <a:spcAft>
                <a:spcPts val="0"/>
              </a:spcAft>
              <a:buClr>
                <a:srgbClr val="1F3864"/>
              </a:buClr>
              <a:buSzPts val="2800"/>
              <a:buFont typeface="Calibri"/>
              <a:buNone/>
            </a:pPr>
            <a:r>
              <a:rPr b="1" i="0" lang="en-US" sz="2800" u="none" cap="none" strike="noStrike">
                <a:solidFill>
                  <a:srgbClr val="1F3864"/>
                </a:solidFill>
                <a:latin typeface="Calibri"/>
                <a:ea typeface="Calibri"/>
                <a:cs typeface="Calibri"/>
                <a:sym typeface="Calibri"/>
              </a:rPr>
              <a:t>PHẦN II</a:t>
            </a:r>
            <a:endParaRPr b="0" i="0" sz="2800" u="none" cap="none" strike="noStrike">
              <a:solidFill>
                <a:schemeClr val="dk1"/>
              </a:solidFill>
              <a:latin typeface="Calibri"/>
              <a:ea typeface="Calibri"/>
              <a:cs typeface="Calibri"/>
              <a:sym typeface="Calibri"/>
            </a:endParaRPr>
          </a:p>
          <a:p>
            <a:pPr indent="0" lvl="0" marL="0" marR="0" rtl="0" algn="ctr">
              <a:lnSpc>
                <a:spcPct val="142857"/>
              </a:lnSpc>
              <a:spcBef>
                <a:spcPts val="0"/>
              </a:spcBef>
              <a:spcAft>
                <a:spcPts val="0"/>
              </a:spcAft>
              <a:buClr>
                <a:srgbClr val="1F3864"/>
              </a:buClr>
              <a:buSzPts val="2800"/>
              <a:buFont typeface="Calibri"/>
              <a:buNone/>
            </a:pPr>
            <a:r>
              <a:rPr b="1" i="0" lang="en-US" sz="2800" u="none" cap="none" strike="noStrike">
                <a:solidFill>
                  <a:srgbClr val="1F3864"/>
                </a:solidFill>
                <a:latin typeface="Calibri"/>
                <a:ea typeface="Calibri"/>
                <a:cs typeface="Calibri"/>
                <a:sym typeface="Calibri"/>
              </a:rPr>
              <a:t>Câu hỏi 1: đo "danh mục tốt" bằng gì?</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 — "Tốt" nghĩa là gì?</a:t>
            </a:r>
            <a:endParaRPr b="0" i="0" sz="2600" u="none" cap="none" strike="noStrike">
              <a:solidFill>
                <a:schemeClr val="dk1"/>
              </a:solidFill>
              <a:latin typeface="Calibri"/>
              <a:ea typeface="Calibri"/>
              <a:cs typeface="Calibri"/>
              <a:sym typeface="Calibri"/>
            </a:endParaRPr>
          </a:p>
        </p:txBody>
      </p:sp>
      <p:sp>
        <p:nvSpPr>
          <p:cNvPr id="55" name="Google Shape;55;p8"/>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Muốn máy tìm danh mục tốt thì phải định nghĩa "tốt" bằng một con số. Nhưng nhà đầu tư muốn hai thứ cùng lúc: lãi nhiều và ít rủi ro.</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Dùng khung Markowitz (1952): đo lợi nhuận bằng lợi suất kỳ vọng, đo rủi ro bằng phương sai danh mục.</a:t>
            </a:r>
            <a:endParaRPr b="0" i="0" sz="1500" u="none" cap="none" strike="noStrike">
              <a:solidFill>
                <a:schemeClr val="dk1"/>
              </a:solidFill>
              <a:latin typeface="Calibri"/>
              <a:ea typeface="Calibri"/>
              <a:cs typeface="Calibri"/>
              <a:sym typeface="Calibri"/>
            </a:endParaRPr>
          </a:p>
        </p:txBody>
      </p:sp>
      <p:sp>
        <p:nvSpPr>
          <p:cNvPr id="57" name="Google Shape;57;p8"/>
          <p:cNvSpPr/>
          <p:nvPr/>
        </p:nvSpPr>
        <p:spPr>
          <a:xfrm>
            <a:off x="548640" y="2542032"/>
            <a:ext cx="8046720" cy="107899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txBox="1"/>
          <p:nvPr/>
        </p:nvSpPr>
        <p:spPr>
          <a:xfrm>
            <a:off x="548640" y="2542032"/>
            <a:ext cx="8046720" cy="10789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R(w) = Σᵢ wᵢ · μᵢ</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σ²(w) = Σᵢ Σⱼ wᵢ · wⱼ · σᵢⱼ</a:t>
            </a:r>
            <a:endParaRPr b="0" i="0" sz="1800" u="none" cap="none" strike="noStrike">
              <a:solidFill>
                <a:schemeClr val="dk1"/>
              </a:solidFill>
              <a:latin typeface="Calibri"/>
              <a:ea typeface="Calibri"/>
              <a:cs typeface="Calibri"/>
              <a:sym typeface="Calibri"/>
            </a:endParaRPr>
          </a:p>
        </p:txBody>
      </p:sp>
      <p:sp>
        <p:nvSpPr>
          <p:cNvPr id="59" name="Google Shape;59;p8"/>
          <p:cNvSpPr txBox="1"/>
          <p:nvPr/>
        </p:nvSpPr>
        <p:spPr>
          <a:xfrm>
            <a:off x="548640" y="3822192"/>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Trong code là hai dòng np.sum trong hàm evaluate.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9"/>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Vì sao rủi ro không phải trung bình cộng?</a:t>
            </a:r>
            <a:endParaRPr b="0" i="0" sz="2600" u="none" cap="none" strike="noStrike">
              <a:solidFill>
                <a:schemeClr val="dk1"/>
              </a:solidFill>
              <a:latin typeface="Calibri"/>
              <a:ea typeface="Calibri"/>
              <a:cs typeface="Calibri"/>
              <a:sym typeface="Calibri"/>
            </a:endParaRPr>
          </a:p>
        </p:txBody>
      </p:sp>
      <p:sp>
        <p:nvSpPr>
          <p:cNvPr id="66" name="Google Shape;66;p9"/>
          <p:cNvSpPr/>
          <p:nvPr/>
        </p:nvSpPr>
        <p:spPr>
          <a:xfrm>
            <a:off x="548640" y="1051560"/>
            <a:ext cx="8046720" cy="107899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txBox="1"/>
          <p:nvPr/>
        </p:nvSpPr>
        <p:spPr>
          <a:xfrm>
            <a:off x="548640" y="1051560"/>
            <a:ext cx="8046720" cy="10789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σ²(w) = Σᵢ wᵢ²σᵢ²  +  Σᵢ≠ⱼ wᵢwⱼσᵢⱼ</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σᵢⱼ = ρᵢⱼ · σᵢ · σⱼ</a:t>
            </a:r>
            <a:endParaRPr b="0" i="0" sz="1800" u="none" cap="none" strike="noStrike">
              <a:solidFill>
                <a:schemeClr val="dk1"/>
              </a:solidFill>
              <a:latin typeface="Calibri"/>
              <a:ea typeface="Calibri"/>
              <a:cs typeface="Calibri"/>
              <a:sym typeface="Calibri"/>
            </a:endParaRPr>
          </a:p>
        </p:txBody>
      </p:sp>
      <p:sp>
        <p:nvSpPr>
          <p:cNvPr id="68" name="Google Shape;68;p9"/>
          <p:cNvSpPr txBox="1"/>
          <p:nvPr/>
        </p:nvSpPr>
        <p:spPr>
          <a:xfrm>
            <a:off x="548640" y="2331720"/>
            <a:ext cx="8046720" cy="2377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Số hạng thứ hai là các số hạng chéo — phần mà công thức trung bình cộng không có.</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Vì σᵢⱼ có thể âm (hai tài sản đi ngược chiều nhau), số hạng chéo kéo tổng xuống.</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Kết quả: một danh mục có thể ít rủi ro hơn mọi tài sản thành phần của nó.</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 Đó chính là bản chất toán học của đa dạng hoá.</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File chỉ lưu ρ và σ, nên load_dataset phải dựng lại Σ: sigma = rho * std * std.reshape((N,1)).</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0"/>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2 — Hai thước đo xung đột nhau</a:t>
            </a:r>
            <a:endParaRPr b="0" i="0" sz="2600" u="none" cap="none" strike="noStrike">
              <a:solidFill>
                <a:schemeClr val="dk1"/>
              </a:solidFill>
              <a:latin typeface="Calibri"/>
              <a:ea typeface="Calibri"/>
              <a:cs typeface="Calibri"/>
              <a:sym typeface="Calibri"/>
            </a:endParaRPr>
          </a:p>
        </p:txBody>
      </p:sp>
      <p:sp>
        <p:nvSpPr>
          <p:cNvPr id="75" name="Google Shape;75;p10"/>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0"/>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Danh mục A lãi cao hơn nhưng rủi ro hơn, B ngược lại. Máy không biết chọn cái nào — thuật toán tìm kiếm cần một chiều duy nhất để so sánh.</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Gộp hai mục tiêu thành một bằng tham số đánh đổi λ (weighted-sum scalarisation).</a:t>
            </a:r>
            <a:endParaRPr b="0" i="0" sz="1500" u="none" cap="none" strike="noStrike">
              <a:solidFill>
                <a:schemeClr val="dk1"/>
              </a:solidFill>
              <a:latin typeface="Calibri"/>
              <a:ea typeface="Calibri"/>
              <a:cs typeface="Calibri"/>
              <a:sym typeface="Calibri"/>
            </a:endParaRPr>
          </a:p>
        </p:txBody>
      </p:sp>
      <p:sp>
        <p:nvSpPr>
          <p:cNvPr id="77" name="Google Shape;77;p10"/>
          <p:cNvSpPr/>
          <p:nvPr/>
        </p:nvSpPr>
        <p:spPr>
          <a:xfrm>
            <a:off x="548640" y="2542032"/>
            <a:ext cx="8046720" cy="71323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0"/>
          <p:cNvSpPr txBox="1"/>
          <p:nvPr/>
        </p:nvSpPr>
        <p:spPr>
          <a:xfrm>
            <a:off x="548640" y="2542032"/>
            <a:ext cx="80467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f(w, λ) = λ · σ²(w) − (1 − λ) · R(w)   →   cực tiểu hoá</a:t>
            </a:r>
            <a:endParaRPr b="0" i="0" sz="1800" u="none" cap="none" strike="noStrike">
              <a:solidFill>
                <a:schemeClr val="dk1"/>
              </a:solidFill>
              <a:latin typeface="Calibri"/>
              <a:ea typeface="Calibri"/>
              <a:cs typeface="Calibri"/>
              <a:sym typeface="Calibri"/>
            </a:endParaRPr>
          </a:p>
        </p:txBody>
      </p:sp>
      <p:sp>
        <p:nvSpPr>
          <p:cNvPr id="79" name="Google Shape;79;p10"/>
          <p:cNvSpPr txBox="1"/>
          <p:nvPr/>
        </p:nvSpPr>
        <p:spPr>
          <a:xfrm>
            <a:off x="548640" y="3456432"/>
            <a:ext cx="8046720" cy="12527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Dấu trừ trước R đảo chiều bài toán: cực đại lợi nhuận = cực tiểu âm lợi nhuận.</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Nhờ vậy cả chương trình chỉ cần một quy ước: f càng nhỏ càng tốt.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1"/>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Nhưng chọn λ bằng bao nhiêu?</a:t>
            </a:r>
            <a:endParaRPr b="0" i="0" sz="2600" u="none" cap="none" strike="noStrike">
              <a:solidFill>
                <a:schemeClr val="dk1"/>
              </a:solidFill>
              <a:latin typeface="Calibri"/>
              <a:ea typeface="Calibri"/>
              <a:cs typeface="Calibri"/>
              <a:sym typeface="Calibri"/>
            </a:endParaRPr>
          </a:p>
        </p:txBody>
      </p:sp>
      <p:graphicFrame>
        <p:nvGraphicFramePr>
          <p:cNvPr id="86" name="Google Shape;86;p11"/>
          <p:cNvGraphicFramePr/>
          <p:nvPr/>
        </p:nvGraphicFramePr>
        <p:xfrm>
          <a:off x="548640" y="1097280"/>
          <a:ext cx="3000000" cy="3000000"/>
        </p:xfrm>
        <a:graphic>
          <a:graphicData uri="http://schemas.openxmlformats.org/drawingml/2006/table">
            <a:tbl>
              <a:tblPr>
                <a:noFill/>
                <a:tableStyleId>{958AF3DF-7348-49FC-AE75-8EB5EBE1FCA2}</a:tableStyleId>
              </a:tblPr>
              <a:tblGrid>
                <a:gridCol w="822950"/>
                <a:gridCol w="4206250"/>
                <a:gridCol w="3017525"/>
              </a:tblGrid>
              <a:tr h="411475">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λ</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Hàm mục tiêu rút gọn</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Kiểu nhà đầu tư</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0</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f = −R → chỉ tối đa lợi nhuận</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Ưa mạo hiểm tuyệt đối</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0.5</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f = 0.5(σ² − R) → cân bằng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Trung dung (mặc định khi E = 1)</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1</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f = σ² → chỉ tối thiểu rủi ro</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Cực kỳ thận trọng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bl>
          </a:graphicData>
        </a:graphic>
      </p:graphicFrame>
      <p:sp>
        <p:nvSpPr>
          <p:cNvPr id="87" name="Google Shape;87;p11"/>
          <p:cNvSpPr txBox="1"/>
          <p:nvPr/>
        </p:nvSpPr>
        <p:spPr>
          <a:xfrm>
            <a:off x="548640" y="3108960"/>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Mỗi người một khẩu vị — không có λ nào đúng cho tất cả. Tạm gác lại: Q1–Q3 cố định λ = 0.5, Phần IV sẽ quay lại giải quyết triệt để.</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2"/>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3 — Mô hình đẹp nhưng không dùng được ngoài đời</a:t>
            </a:r>
            <a:endParaRPr b="0" i="0" sz="2600" u="none" cap="none" strike="noStrike">
              <a:solidFill>
                <a:schemeClr val="dk1"/>
              </a:solidFill>
              <a:latin typeface="Calibri"/>
              <a:ea typeface="Calibri"/>
              <a:cs typeface="Calibri"/>
              <a:sym typeface="Calibri"/>
            </a:endParaRPr>
          </a:p>
        </p:txBody>
      </p:sp>
      <p:sp>
        <p:nvSpPr>
          <p:cNvPr id="94" name="Google Shape;94;p12"/>
          <p:cNvSpPr/>
          <p:nvPr/>
        </p:nvSpPr>
        <p:spPr>
          <a:xfrm>
            <a:off x="548640" y="1051560"/>
            <a:ext cx="8046720" cy="1024128"/>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2"/>
          <p:cNvSpPr txBox="1"/>
          <p:nvPr/>
        </p:nvSpPr>
        <p:spPr>
          <a:xfrm>
            <a:off x="713232" y="1051560"/>
            <a:ext cx="7717536"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Markowitz gốc cho chia vốn cho cả N tài sản với tỷ trọng tuỳ ý. Thực tế: theo dõi 225 mã là bất khả thi, mỗi mã phát sinh phí, và mua 0,0001% vốn thì phí lớn hơn lãi.</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Thêm ba ràng buộc thực tế vào mô hình.</a:t>
            </a:r>
            <a:endParaRPr b="0" i="0" sz="1500" u="none" cap="none" strike="noStrike">
              <a:solidFill>
                <a:schemeClr val="dk1"/>
              </a:solidFill>
              <a:latin typeface="Calibri"/>
              <a:ea typeface="Calibri"/>
              <a:cs typeface="Calibri"/>
              <a:sym typeface="Calibri"/>
            </a:endParaRPr>
          </a:p>
        </p:txBody>
      </p:sp>
      <p:sp>
        <p:nvSpPr>
          <p:cNvPr id="96" name="Google Shape;96;p12"/>
          <p:cNvSpPr/>
          <p:nvPr/>
        </p:nvSpPr>
        <p:spPr>
          <a:xfrm>
            <a:off x="548640" y="2304288"/>
            <a:ext cx="8046720" cy="144475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2"/>
          <p:cNvSpPr txBox="1"/>
          <p:nvPr/>
        </p:nvSpPr>
        <p:spPr>
          <a:xfrm>
            <a:off x="548640" y="2304288"/>
            <a:ext cx="8046720" cy="14447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Σᵢ wᵢ = 1                    (dùng hết vốn)</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Σᵢ δᵢ = K = 10               (đúng 10 tài sản)</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ε · δᵢ ≤ wᵢ ≤ δ · δᵢ          (sàn 1%, trần 100%)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3"/>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Cái giá phải trả: bài toán thành NP-khó</a:t>
            </a:r>
            <a:endParaRPr b="0" i="0" sz="2600" u="none" cap="none" strike="noStrike">
              <a:solidFill>
                <a:schemeClr val="dk1"/>
              </a:solidFill>
              <a:latin typeface="Calibri"/>
              <a:ea typeface="Calibri"/>
              <a:cs typeface="Calibri"/>
              <a:sym typeface="Calibri"/>
            </a:endParaRPr>
          </a:p>
        </p:txBody>
      </p:sp>
      <p:sp>
        <p:nvSpPr>
          <p:cNvPr id="104" name="Google Shape;104;p13"/>
          <p:cNvSpPr txBox="1"/>
          <p:nvPr/>
        </p:nvSpPr>
        <p:spPr>
          <a:xfrm>
            <a:off x="548640" y="1051560"/>
            <a:ext cx="8046720" cy="36576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Không có ràng buộc lực lượng: quy hoạch toàn phương lồi, có nghiệm giải tích.</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Thêm biến nhị phân δᵢ: quy hoạch toàn phương nguyên hỗn hợp (MIQP) → NP-khó.</a:t>
            </a:r>
            <a:endParaRPr b="0" i="0" sz="1600" u="none" cap="none" strike="noStrike">
              <a:solidFill>
                <a:schemeClr val="dk1"/>
              </a:solidFill>
              <a:latin typeface="Calibri"/>
              <a:ea typeface="Calibri"/>
              <a:cs typeface="Calibri"/>
              <a:sym typeface="Calibri"/>
            </a:endParaRPr>
          </a:p>
        </p:txBody>
      </p:sp>
      <p:graphicFrame>
        <p:nvGraphicFramePr>
          <p:cNvPr id="105" name="Google Shape;105;p13"/>
          <p:cNvGraphicFramePr/>
          <p:nvPr/>
        </p:nvGraphicFramePr>
        <p:xfrm>
          <a:off x="548640" y="1920240"/>
          <a:ext cx="3000000" cy="3000000"/>
        </p:xfrm>
        <a:graphic>
          <a:graphicData uri="http://schemas.openxmlformats.org/drawingml/2006/table">
            <a:tbl>
              <a:tblPr>
                <a:noFill/>
                <a:tableStyleId>{958AF3DF-7348-49FC-AE75-8EB5EBE1FCA2}</a:tableStyleId>
              </a:tblPr>
              <a:tblGrid>
                <a:gridCol w="2194550"/>
                <a:gridCol w="1097275"/>
                <a:gridCol w="4754875"/>
              </a:tblGrid>
              <a:tr h="347475">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Thị trường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N</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Số cách chọn 10 tài sản</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r>
              <a:tr h="347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Hang Seng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31</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 4,5 × 10⁷</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S&amp;P 100</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98</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 1,4 × 10¹⁴</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Nikkei 225</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225</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 4,0 × 10¹⁷</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bl>
          </a:graphicData>
        </a:graphic>
      </p:graphicFrame>
      <p:sp>
        <p:nvSpPr>
          <p:cNvPr id="106" name="Google Shape;106;p13"/>
          <p:cNvSpPr txBox="1"/>
          <p:nvPr/>
        </p:nvSpPr>
        <p:spPr>
          <a:xfrm>
            <a:off x="548640" y="3566160"/>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Và đó mới là phần rời rạc — mỗi tập còn phải tối ưu tiếp 10 tỷ trọng liên tục. Vét cạn bất khả thi → chuyển sang heuristic.</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nvSpPr>
        <p:spPr>
          <a:xfrm>
            <a:off x="731520" y="1828800"/>
            <a:ext cx="7680960" cy="1280160"/>
          </a:xfrm>
          <a:prstGeom prst="rect">
            <a:avLst/>
          </a:prstGeom>
          <a:noFill/>
          <a:ln>
            <a:noFill/>
          </a:ln>
        </p:spPr>
        <p:txBody>
          <a:bodyPr anchorCtr="0" anchor="ctr" bIns="0" lIns="0" spcFirstLastPara="1" rIns="0" wrap="square" tIns="0">
            <a:noAutofit/>
          </a:bodyPr>
          <a:lstStyle/>
          <a:p>
            <a:pPr indent="0" lvl="0" marL="0" marR="0" rtl="0" algn="ctr">
              <a:lnSpc>
                <a:spcPct val="142857"/>
              </a:lnSpc>
              <a:spcBef>
                <a:spcPts val="0"/>
              </a:spcBef>
              <a:spcAft>
                <a:spcPts val="0"/>
              </a:spcAft>
              <a:buClr>
                <a:srgbClr val="1F3864"/>
              </a:buClr>
              <a:buSzPts val="2800"/>
              <a:buFont typeface="Calibri"/>
              <a:buNone/>
            </a:pPr>
            <a:r>
              <a:rPr b="1" i="0" lang="en-US" sz="2800" u="none" cap="none" strike="noStrike">
                <a:solidFill>
                  <a:srgbClr val="1F3864"/>
                </a:solidFill>
                <a:latin typeface="Calibri"/>
                <a:ea typeface="Calibri"/>
                <a:cs typeface="Calibri"/>
                <a:sym typeface="Calibri"/>
              </a:rPr>
              <a:t>PHẦN III</a:t>
            </a:r>
            <a:endParaRPr b="0" i="0" sz="2800" u="none" cap="none" strike="noStrike">
              <a:solidFill>
                <a:schemeClr val="dk1"/>
              </a:solidFill>
              <a:latin typeface="Calibri"/>
              <a:ea typeface="Calibri"/>
              <a:cs typeface="Calibri"/>
              <a:sym typeface="Calibri"/>
            </a:endParaRPr>
          </a:p>
          <a:p>
            <a:pPr indent="0" lvl="0" marL="0" marR="0" rtl="0" algn="ctr">
              <a:lnSpc>
                <a:spcPct val="142857"/>
              </a:lnSpc>
              <a:spcBef>
                <a:spcPts val="0"/>
              </a:spcBef>
              <a:spcAft>
                <a:spcPts val="0"/>
              </a:spcAft>
              <a:buClr>
                <a:srgbClr val="1F3864"/>
              </a:buClr>
              <a:buSzPts val="2800"/>
              <a:buFont typeface="Calibri"/>
              <a:buNone/>
            </a:pPr>
            <a:r>
              <a:rPr b="1" i="0" lang="en-US" sz="2800" u="none" cap="none" strike="noStrike">
                <a:solidFill>
                  <a:srgbClr val="1F3864"/>
                </a:solidFill>
                <a:latin typeface="Calibri"/>
                <a:ea typeface="Calibri"/>
                <a:cs typeface="Calibri"/>
                <a:sym typeface="Calibri"/>
              </a:rPr>
              <a:t>Câu hỏi 2: tìm nghiệm bằng cách nào?</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Cách đơn giản và bao quát nhất: thử ngẫu nhiên</a:t>
            </a:r>
            <a:endParaRPr b="0" i="0" sz="2600" u="none" cap="none" strike="noStrike">
              <a:solidFill>
                <a:schemeClr val="dk1"/>
              </a:solidFill>
              <a:latin typeface="Calibri"/>
              <a:ea typeface="Calibri"/>
              <a:cs typeface="Calibri"/>
              <a:sym typeface="Calibri"/>
            </a:endParaRPr>
          </a:p>
        </p:txBody>
      </p:sp>
      <p:sp>
        <p:nvSpPr>
          <p:cNvPr id="119" name="Google Shape;119;p15"/>
          <p:cNvSpPr/>
          <p:nvPr/>
        </p:nvSpPr>
        <p:spPr>
          <a:xfrm>
            <a:off x="548640" y="1051560"/>
            <a:ext cx="8046720" cy="1600200"/>
          </a:xfrm>
          <a:prstGeom prst="rect">
            <a:avLst/>
          </a:prstGeom>
          <a:solidFill>
            <a:srgbClr val="F7F7F7"/>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txBox="1"/>
          <p:nvPr/>
        </p:nvSpPr>
        <p:spPr>
          <a:xfrm>
            <a:off x="676656" y="1106424"/>
            <a:ext cx="7790688" cy="149047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RANDOM_SEARCH(dataset, max_evals):</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best_f = +inf</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repeat max_evals times:</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C = create_candidate(N, K)   // sinh mot danh muc ngau nhien</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(R, var, f) = evaluate(C, lamda)</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if f &lt; best_f:  cap nhat nghiem tot nhat</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return nghiem tot nhat</a:t>
            </a:r>
            <a:endParaRPr b="0" i="0" sz="1200" u="none" cap="none" strike="noStrike">
              <a:solidFill>
                <a:schemeClr val="dk1"/>
              </a:solidFill>
              <a:latin typeface="Calibri"/>
              <a:ea typeface="Calibri"/>
              <a:cs typeface="Calibri"/>
              <a:sym typeface="Calibri"/>
            </a:endParaRPr>
          </a:p>
        </p:txBody>
      </p:sp>
      <p:sp>
        <p:nvSpPr>
          <p:cNvPr id="121" name="Google Shape;121;p15"/>
          <p:cNvSpPr txBox="1"/>
          <p:nvPr/>
        </p:nvSpPr>
        <p:spPr>
          <a:xfrm>
            <a:off x="548640" y="2852928"/>
            <a:ext cx="8046720" cy="1856232"/>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Ưu điểm: mười dòng code, không cần hiểu gì về bài toán, không bao giờ bị kẹt.</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Nhược điểm sẽ lộ dần qua bốn vấn đề tiếp theo.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4 — Nghiệm ngẫu nhiên gần như luôn sai ràng buộc</a:t>
            </a:r>
            <a:endParaRPr b="0" i="0" sz="2600" u="none" cap="none" strike="noStrike">
              <a:solidFill>
                <a:schemeClr val="dk1"/>
              </a:solidFill>
              <a:latin typeface="Calibri"/>
              <a:ea typeface="Calibri"/>
              <a:cs typeface="Calibri"/>
              <a:sym typeface="Calibri"/>
            </a:endParaRPr>
          </a:p>
        </p:txBody>
      </p:sp>
      <p:sp>
        <p:nvSpPr>
          <p:cNvPr id="128" name="Google Shape;128;p16"/>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Bốc ngẫu nhiên vector w gồm N số thì xác suất nó cộng đúng bằng 1, có đúng 10 phần tử khác 0, và mọi phần tử ≥ 1% là gần bằng không. Hầu hết nghiệm sinh ra là rác.</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Không sinh w trực tiếp. Dùng biểu diễn gián tiếp (Q, s) kèm công thức giải mã, sao cho mọi nghiệm sau khi giải mã đều tự động hợp lệ.</a:t>
            </a:r>
            <a:endParaRPr b="0" i="0" sz="1500" u="none" cap="none" strike="noStrike">
              <a:solidFill>
                <a:schemeClr val="dk1"/>
              </a:solidFill>
              <a:latin typeface="Calibri"/>
              <a:ea typeface="Calibri"/>
              <a:cs typeface="Calibri"/>
              <a:sym typeface="Calibri"/>
            </a:endParaRPr>
          </a:p>
        </p:txBody>
      </p:sp>
      <p:sp>
        <p:nvSpPr>
          <p:cNvPr id="130" name="Google Shape;130;p16"/>
          <p:cNvSpPr txBox="1"/>
          <p:nvPr/>
        </p:nvSpPr>
        <p:spPr>
          <a:xfrm>
            <a:off x="548640" y="2542032"/>
            <a:ext cx="8046720" cy="21671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Q — tập 10 chỉ số tài sản, lấy bằng np.random.permutation(N)[:K] nên luôn đôi một khác nhau → ràng buộc lực lượng thoả mãn ngay từ cấu trúc dữ liệu.</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s — vector 10 số thực trong [0,1), là phần chia tương đối, chưa phải tỷ trọng.</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Công thức giải mã — và vì sao nó luôn hợp lệ</a:t>
            </a:r>
            <a:endParaRPr b="0" i="0" sz="2600" u="none" cap="none" strike="noStrike">
              <a:solidFill>
                <a:schemeClr val="dk1"/>
              </a:solidFill>
              <a:latin typeface="Calibri"/>
              <a:ea typeface="Calibri"/>
              <a:cs typeface="Calibri"/>
              <a:sym typeface="Calibri"/>
            </a:endParaRPr>
          </a:p>
        </p:txBody>
      </p:sp>
      <p:sp>
        <p:nvSpPr>
          <p:cNvPr id="137" name="Google Shape;137;p17"/>
          <p:cNvSpPr/>
          <p:nvPr/>
        </p:nvSpPr>
        <p:spPr>
          <a:xfrm>
            <a:off x="548640" y="1051560"/>
            <a:ext cx="8046720" cy="144475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txBox="1"/>
          <p:nvPr/>
        </p:nvSpPr>
        <p:spPr>
          <a:xfrm>
            <a:off x="548640" y="1051560"/>
            <a:ext cx="8046720" cy="14447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F = 1 − K·ε = 0.9        L = Σⱼ sⱼ</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wᵢ = ε + ( sᵢ / L ) · F</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Σ wᵢ = K·ε + (F/L)·L = K·ε + F = 1</a:t>
            </a:r>
            <a:endParaRPr b="0" i="0" sz="1800" u="none" cap="none" strike="noStrike">
              <a:solidFill>
                <a:schemeClr val="dk1"/>
              </a:solidFill>
              <a:latin typeface="Calibri"/>
              <a:ea typeface="Calibri"/>
              <a:cs typeface="Calibri"/>
              <a:sym typeface="Calibri"/>
            </a:endParaRPr>
          </a:p>
        </p:txBody>
      </p:sp>
      <p:sp>
        <p:nvSpPr>
          <p:cNvPr id="139" name="Google Shape;139;p17"/>
          <p:cNvSpPr txBox="1"/>
          <p:nvPr/>
        </p:nvSpPr>
        <p:spPr>
          <a:xfrm>
            <a:off x="548640" y="2697480"/>
            <a:ext cx="8046720" cy="20116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Mỗi tài sản được chọn nhận trước phần sàn ε; phần vốn tự do F chia theo tỷ lệ các sᵢ.</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Tổng luôn bằng 1, luôn đúng 10 tài sản, luôn ≥ ε → ba ràng buộc thoả mãn tự động.</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Mẹo nhỏ: sau đó code ghi đè s ← w − ε, tạo quan hệ một-một wᵢ = ε + sᵢ (sẽ dùng ở Tabu Search).</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5 — Ràng buộc trần chưa tự động thoả mãn</a:t>
            </a:r>
            <a:endParaRPr b="0" i="0" sz="2600" u="none" cap="none" strike="noStrike">
              <a:solidFill>
                <a:schemeClr val="dk1"/>
              </a:solidFill>
              <a:latin typeface="Calibri"/>
              <a:ea typeface="Calibri"/>
              <a:cs typeface="Calibri"/>
              <a:sym typeface="Calibri"/>
            </a:endParaRPr>
          </a:p>
        </p:txBody>
      </p:sp>
      <p:sp>
        <p:nvSpPr>
          <p:cNvPr id="146" name="Google Shape;146;p18"/>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Công thức trên bảo đảm tổng bằng 1, đúng 10 tài sản, không dưới sàn — nhưng không bảo đảm không vượt trần δ.</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Ghim tài sản vi phạm ở đúng mức δ, chia lại phần vốn tự do cho các tài sản còn lại, lặp tới khi không còn ai vượt.</a:t>
            </a:r>
            <a:endParaRPr b="0" i="0" sz="1500" u="none" cap="none" strike="noStrike">
              <a:solidFill>
                <a:schemeClr val="dk1"/>
              </a:solidFill>
              <a:latin typeface="Calibri"/>
              <a:ea typeface="Calibri"/>
              <a:cs typeface="Calibri"/>
              <a:sym typeface="Calibri"/>
            </a:endParaRPr>
          </a:p>
        </p:txBody>
      </p:sp>
      <p:sp>
        <p:nvSpPr>
          <p:cNvPr id="148" name="Google Shape;148;p18"/>
          <p:cNvSpPr/>
          <p:nvPr/>
        </p:nvSpPr>
        <p:spPr>
          <a:xfrm>
            <a:off x="548640" y="2542032"/>
            <a:ext cx="8046720" cy="1024128"/>
          </a:xfrm>
          <a:prstGeom prst="rect">
            <a:avLst/>
          </a:prstGeom>
          <a:solidFill>
            <a:srgbClr val="F7F7F7"/>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txBox="1"/>
          <p:nvPr/>
        </p:nvSpPr>
        <p:spPr>
          <a:xfrm>
            <a:off x="676656" y="2596896"/>
            <a:ext cx="7790688"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while exists i with w[i] &gt; delta:</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F_temp = 1 - ( epsilon*|U| + delta*|C| )   // U: tu do, C: bi ghim</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w[i]   = epsilon + s[i]*F_temp / L     for i in U</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w[i]   = delta                         for i in C</a:t>
            </a:r>
            <a:endParaRPr b="0" i="0" sz="1200" u="none" cap="none" strike="noStrike">
              <a:solidFill>
                <a:schemeClr val="dk1"/>
              </a:solidFill>
              <a:latin typeface="Calibri"/>
              <a:ea typeface="Calibri"/>
              <a:cs typeface="Calibri"/>
              <a:sym typeface="Calibri"/>
            </a:endParaRPr>
          </a:p>
        </p:txBody>
      </p:sp>
      <p:sp>
        <p:nvSpPr>
          <p:cNvPr id="150" name="Google Shape;150;p18"/>
          <p:cNvSpPr txBox="1"/>
          <p:nvPr/>
        </p:nvSpPr>
        <p:spPr>
          <a:xfrm>
            <a:off x="548640" y="3767328"/>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Phải lặp vì sau khi chia lại, một tài sản trước đó hợp lệ có thể bị đẩy vượt trần. Với δ = 1.0 mặc định, vòng này không bao giờ chạy.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6 — Thử bao nhiêu lần? Và cách này tốt đến đâu?</a:t>
            </a:r>
            <a:endParaRPr b="0" i="0" sz="2600" u="none" cap="none" strike="noStrike">
              <a:solidFill>
                <a:schemeClr val="dk1"/>
              </a:solidFill>
              <a:latin typeface="Calibri"/>
              <a:ea typeface="Calibri"/>
              <a:cs typeface="Calibri"/>
              <a:sym typeface="Calibri"/>
            </a:endParaRPr>
          </a:p>
        </p:txBody>
      </p:sp>
      <p:sp>
        <p:nvSpPr>
          <p:cNvPr id="157" name="Google Shape;157;p19"/>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Phải đặt số lần thử: ít thì kết quả tệ, nhiều thì tốn thời gian. Quan trọng hơn: bốc ngẫu nhiên có thực sự tìm ra nghiệm tốt không?</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Gắn ngân sách với kích thước bài toán, rồi tính thử xác suất trúng để biết cách này mạnh đến đâu.</a:t>
            </a:r>
            <a:endParaRPr b="0" i="0" sz="1500" u="none" cap="none" strike="noStrike">
              <a:solidFill>
                <a:schemeClr val="dk1"/>
              </a:solidFill>
              <a:latin typeface="Calibri"/>
              <a:ea typeface="Calibri"/>
              <a:cs typeface="Calibri"/>
              <a:sym typeface="Calibri"/>
            </a:endParaRPr>
          </a:p>
        </p:txBody>
      </p:sp>
      <p:sp>
        <p:nvSpPr>
          <p:cNvPr id="159" name="Google Shape;159;p19"/>
          <p:cNvSpPr/>
          <p:nvPr/>
        </p:nvSpPr>
        <p:spPr>
          <a:xfrm>
            <a:off x="548640" y="2542032"/>
            <a:ext cx="8046720" cy="71323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txBox="1"/>
          <p:nvPr/>
        </p:nvSpPr>
        <p:spPr>
          <a:xfrm>
            <a:off x="548640" y="2542032"/>
            <a:ext cx="80467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max_evals = 1000 · N</a:t>
            </a:r>
            <a:endParaRPr b="0" i="0" sz="1800" u="none" cap="none" strike="noStrike">
              <a:solidFill>
                <a:schemeClr val="dk1"/>
              </a:solidFill>
              <a:latin typeface="Calibri"/>
              <a:ea typeface="Calibri"/>
              <a:cs typeface="Calibri"/>
              <a:sym typeface="Calibri"/>
            </a:endParaRPr>
          </a:p>
        </p:txBody>
      </p:sp>
      <p:sp>
        <p:nvSpPr>
          <p:cNvPr id="161" name="Google Shape;161;p19"/>
          <p:cNvSpPr txBox="1"/>
          <p:nvPr/>
        </p:nvSpPr>
        <p:spPr>
          <a:xfrm>
            <a:off x="548640" y="3456432"/>
            <a:ext cx="8046720" cy="12527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Xác suất bốc trúng đúng tập 10 tài sản tối ưu của Nikkei ≈ 2,5 × 10⁻¹⁸ — nhỏ hơn 225.000 lần thử tới mười ba bậc độ lớn.</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 Random Search về cơ bản không bao giờ chạm tới nghiệm tối ưu toàn cục.</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Vẫn giữ nó vì nó là baseline: mọi phần thuật toán tinh vi hơn vượt lên trên mốc này chính là giá trị thật của sự tinh vi đó.</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7 — Random Search không học được gì cả</a:t>
            </a:r>
            <a:endParaRPr b="0" i="0" sz="2600" u="none" cap="none" strike="noStrike">
              <a:solidFill>
                <a:schemeClr val="dk1"/>
              </a:solidFill>
              <a:latin typeface="Calibri"/>
              <a:ea typeface="Calibri"/>
              <a:cs typeface="Calibri"/>
              <a:sym typeface="Calibri"/>
            </a:endParaRPr>
          </a:p>
        </p:txBody>
      </p:sp>
      <p:sp>
        <p:nvSpPr>
          <p:cNvPr id="168" name="Google Shape;168;p20"/>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Mỗi lần bốc, nó vứt bỏ toàn bộ thông tin vừa thu được. Vừa tìm ra một danh mục khá tốt, lần sau lại bốc một danh mục hoàn toàn ngẫu nhiên ở tận đâu.</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Chuyển sang tìm kiếm cục bộ: giữ một nghiệm hiện tại, chỉ xét các nghiệm "hàng xóm", và di chuyển dần theo hướng tốt lên.</a:t>
            </a:r>
            <a:endParaRPr b="0" i="0" sz="1500" u="none" cap="none" strike="noStrike">
              <a:solidFill>
                <a:schemeClr val="dk1"/>
              </a:solidFill>
              <a:latin typeface="Calibri"/>
              <a:ea typeface="Calibri"/>
              <a:cs typeface="Calibri"/>
              <a:sym typeface="Calibri"/>
            </a:endParaRPr>
          </a:p>
        </p:txBody>
      </p:sp>
      <p:sp>
        <p:nvSpPr>
          <p:cNvPr id="170" name="Google Shape;170;p20"/>
          <p:cNvSpPr txBox="1"/>
          <p:nvPr/>
        </p:nvSpPr>
        <p:spPr>
          <a:xfrm>
            <a:off x="548640" y="2542032"/>
            <a:ext cx="8046720" cy="21671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700"/>
              <a:buFont typeface="Calibri"/>
              <a:buChar char="•"/>
            </a:pPr>
            <a:r>
              <a:rPr b="0" i="0" lang="en-US" sz="1700" u="none" cap="none" strike="noStrike">
                <a:solidFill>
                  <a:srgbClr val="1A1A1A"/>
                </a:solidFill>
                <a:latin typeface="Calibri"/>
                <a:ea typeface="Calibri"/>
                <a:cs typeface="Calibri"/>
                <a:sym typeface="Calibri"/>
              </a:rPr>
              <a:t>Đây là ý tưởng leo đồi (hill climbing).</a:t>
            </a:r>
            <a:endParaRPr b="0" i="0" sz="17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700"/>
              <a:buFont typeface="Calibri"/>
              <a:buChar char="•"/>
            </a:pPr>
            <a:r>
              <a:rPr b="0" i="0" lang="en-US" sz="1700" u="none" cap="none" strike="noStrike">
                <a:solidFill>
                  <a:srgbClr val="1A1A1A"/>
                </a:solidFill>
                <a:latin typeface="Calibri"/>
                <a:ea typeface="Calibri"/>
                <a:cs typeface="Calibri"/>
                <a:sym typeface="Calibri"/>
              </a:rPr>
              <a:t>Khai thác một giả định hợp lý: nghiệm tốt thường nằm gần nghiệm tốt khác.</a:t>
            </a:r>
            <a:endParaRPr b="0" i="0" sz="17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700"/>
              <a:buFont typeface="Calibri"/>
              <a:buChar char="•"/>
            </a:pPr>
            <a:r>
              <a:rPr b="0" i="0" lang="en-US" sz="1700" u="none" cap="none" strike="noStrike">
                <a:solidFill>
                  <a:srgbClr val="1A1A1A"/>
                </a:solidFill>
                <a:latin typeface="Calibri"/>
                <a:ea typeface="Calibri"/>
                <a:cs typeface="Calibri"/>
                <a:sym typeface="Calibri"/>
              </a:rPr>
              <a:t>Từ nghiệm S: sinh mọi hàng xóm → chọn cái tốt nhất → chuyển sang đó → lặp lại.</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8 — Leo đồi kẹt ngay ở ngọn đồi đầu tiên</a:t>
            </a:r>
            <a:endParaRPr b="0" i="0" sz="2600" u="none" cap="none" strike="noStrike">
              <a:solidFill>
                <a:schemeClr val="dk1"/>
              </a:solidFill>
              <a:latin typeface="Calibri"/>
              <a:ea typeface="Calibri"/>
              <a:cs typeface="Calibri"/>
              <a:sym typeface="Calibri"/>
            </a:endParaRPr>
          </a:p>
        </p:txBody>
      </p:sp>
      <p:sp>
        <p:nvSpPr>
          <p:cNvPr id="177" name="Google Shape;177;p21"/>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Leo đồi chỉ đi khi có hàng xóm tốt hơn. Khi mọi hàng xóm đều tệ hơn, nó dừng — dù đó chỉ là cực trị địa phương và đỉnh thật còn rất xa.</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Tabu Search (Glover, 1986): vẫn đi tiếp kể cả khi phải đi xuống, nhưng CẤM quay lại những nước đi vừa thực hiện trong một số vòng nhất định.</a:t>
            </a:r>
            <a:endParaRPr b="0" i="0" sz="1500" u="none" cap="none" strike="noStrike">
              <a:solidFill>
                <a:schemeClr val="dk1"/>
              </a:solidFill>
              <a:latin typeface="Calibri"/>
              <a:ea typeface="Calibri"/>
              <a:cs typeface="Calibri"/>
              <a:sym typeface="Calibri"/>
            </a:endParaRPr>
          </a:p>
        </p:txBody>
      </p:sp>
      <p:sp>
        <p:nvSpPr>
          <p:cNvPr id="179" name="Google Shape;179;p21"/>
          <p:cNvSpPr txBox="1"/>
          <p:nvPr/>
        </p:nvSpPr>
        <p:spPr>
          <a:xfrm>
            <a:off x="548640" y="2542032"/>
            <a:ext cx="8046720" cy="21671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Nếu cho đi xuống mà không cấm gì, thuật toán sẽ đi xuống rồi lập tức đi lên chỗ cũ, quẩn mãi.</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Lệnh cấm ngắn hạn chính là thứ phá vỡ vòng quẩn và đẩy thuật toán sang vùng mới.</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Khởi tạo nóng: sinh 1000 nghiệm ngẫu nhiên, lấy nghiệm tốt nhất làm điểm xuất phát 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Hàng xóm được định nghĩa thế nào?</a:t>
            </a:r>
            <a:endParaRPr b="0" i="0" sz="2600" u="none" cap="none" strike="noStrike">
              <a:solidFill>
                <a:schemeClr val="dk1"/>
              </a:solidFill>
              <a:latin typeface="Calibri"/>
              <a:ea typeface="Calibri"/>
              <a:cs typeface="Calibri"/>
              <a:sym typeface="Calibri"/>
            </a:endParaRPr>
          </a:p>
        </p:txBody>
      </p:sp>
      <p:sp>
        <p:nvSpPr>
          <p:cNvPr id="186" name="Google Shape;186;p22"/>
          <p:cNvSpPr/>
          <p:nvPr/>
        </p:nvSpPr>
        <p:spPr>
          <a:xfrm>
            <a:off x="548640" y="1051560"/>
            <a:ext cx="8046720" cy="71323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2"/>
          <p:cNvSpPr txBox="1"/>
          <p:nvPr/>
        </p:nvSpPr>
        <p:spPr>
          <a:xfrm>
            <a:off x="548640" y="1051560"/>
            <a:ext cx="80467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m = 1 :  wᵢ ← 0.9 · wᵢ          m = 2 :  wᵢ ← 1.1 · wᵢ</a:t>
            </a:r>
            <a:endParaRPr b="0" i="0" sz="1800" u="none" cap="none" strike="noStrike">
              <a:solidFill>
                <a:schemeClr val="dk1"/>
              </a:solidFill>
              <a:latin typeface="Calibri"/>
              <a:ea typeface="Calibri"/>
              <a:cs typeface="Calibri"/>
              <a:sym typeface="Calibri"/>
            </a:endParaRPr>
          </a:p>
        </p:txBody>
      </p:sp>
      <p:sp>
        <p:nvSpPr>
          <p:cNvPr id="188" name="Google Shape;188;p22"/>
          <p:cNvSpPr txBox="1"/>
          <p:nvPr/>
        </p:nvSpPr>
        <p:spPr>
          <a:xfrm>
            <a:off x="548640" y="1965960"/>
            <a:ext cx="804672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Mỗi vòng xét 2K = 20 hàng xóm (10 tài sản × 2 nước đi).</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Nhiễu nhân chứ không cộng: vị thế lớn thì bước lớn, vị thế nhỏ thì bước nhỏ → tinh chỉnh mượt ở giai đoạn cuối.</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Đổi một sᵢ thì evaluate chuẩn hoá lại cả vector w — 9 tài sản còn lại cũng được điều chỉnh để giữ tổng bằng 1.</a:t>
            </a:r>
            <a:endParaRPr b="0" i="0" sz="16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Nhờ mẹo wᵢ = ε + sᵢ ở slide trước, thao tác trên s chính là thao tác trên tỷ trọng thật.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phụ — Hàng xóm đó không đổi được tài sản</a:t>
            </a:r>
            <a:endParaRPr b="0" i="0" sz="2600" u="none" cap="none" strike="noStrike">
              <a:solidFill>
                <a:schemeClr val="dk1"/>
              </a:solidFill>
              <a:latin typeface="Calibri"/>
              <a:ea typeface="Calibri"/>
              <a:cs typeface="Calibri"/>
              <a:sym typeface="Calibri"/>
            </a:endParaRPr>
          </a:p>
        </p:txBody>
      </p:sp>
      <p:sp>
        <p:nvSpPr>
          <p:cNvPr id="195" name="Google Shape;195;p23"/>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Chỉ tăng giảm tỷ trọng thì thuật toán mãi mắc kẹt trong đúng 10 tài sản bốc lúc đầu — mà phần khó nhất lại chính là chọn tài sản nào.</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Khi một nước đi giảm khiến wᵢ tụt dưới sàn ε, tài sản đó không còn đủ điều kiện nắm giữ → thay luôn bằng tài sản khác.</a:t>
            </a:r>
            <a:endParaRPr b="0" i="0" sz="1500" u="none" cap="none" strike="noStrike">
              <a:solidFill>
                <a:schemeClr val="dk1"/>
              </a:solidFill>
              <a:latin typeface="Calibri"/>
              <a:ea typeface="Calibri"/>
              <a:cs typeface="Calibri"/>
              <a:sym typeface="Calibri"/>
            </a:endParaRPr>
          </a:p>
        </p:txBody>
      </p:sp>
      <p:sp>
        <p:nvSpPr>
          <p:cNvPr id="197" name="Google Shape;197;p23"/>
          <p:cNvSpPr/>
          <p:nvPr/>
        </p:nvSpPr>
        <p:spPr>
          <a:xfrm>
            <a:off x="548640" y="2542032"/>
            <a:ext cx="8046720" cy="1024128"/>
          </a:xfrm>
          <a:prstGeom prst="rect">
            <a:avLst/>
          </a:prstGeom>
          <a:solidFill>
            <a:srgbClr val="F7F7F7"/>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txBox="1"/>
          <p:nvPr/>
        </p:nvSpPr>
        <p:spPr>
          <a:xfrm>
            <a:off x="676656" y="2596896"/>
            <a:ext cx="7790688"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if C['s'][i] &lt; 0:</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available = {0..N-1} \ C['Q']</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C['Q'][i] = random.choice(available)   // thay bang tai san moi</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C['s'][i] = 0                          // khoi dong o muc san epsilon</a:t>
            </a:r>
            <a:endParaRPr b="0" i="0" sz="1200" u="none" cap="none" strike="noStrike">
              <a:solidFill>
                <a:schemeClr val="dk1"/>
              </a:solidFill>
              <a:latin typeface="Calibri"/>
              <a:ea typeface="Calibri"/>
              <a:cs typeface="Calibri"/>
              <a:sym typeface="Calibri"/>
            </a:endParaRPr>
          </a:p>
        </p:txBody>
      </p:sp>
      <p:sp>
        <p:nvSpPr>
          <p:cNvPr id="199" name="Google Shape;199;p23"/>
          <p:cNvSpPr txBox="1"/>
          <p:nvPr/>
        </p:nvSpPr>
        <p:spPr>
          <a:xfrm>
            <a:off x="548640" y="3767328"/>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Cùng một loại nước đi vừa tìm trong không gian liên tục (tỷ trọng) vừa tìm trong không gian rời rạc (tập tài sản).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9 — Cấm cái gì, cấm trong bao lâu?</a:t>
            </a:r>
            <a:endParaRPr b="0" i="0" sz="2600" u="none" cap="none" strike="noStrike">
              <a:solidFill>
                <a:schemeClr val="dk1"/>
              </a:solidFill>
              <a:latin typeface="Calibri"/>
              <a:ea typeface="Calibri"/>
              <a:cs typeface="Calibri"/>
              <a:sym typeface="Calibri"/>
            </a:endParaRPr>
          </a:p>
        </p:txBody>
      </p:sp>
      <p:sp>
        <p:nvSpPr>
          <p:cNvPr id="206" name="Google Shape;206;p24"/>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4"/>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Nói "cấm quay lại" thì dễ, nhưng cài đặt phải trả lời: cấm nghiệm hay cấm nước đi? Lưu bằng gì? Cấm mấy vòng?</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Cấm nước đi, không cấm nghiệm. Lưu bằng ma trận đếm ngược L_im kích thước K × 2.</a:t>
            </a:r>
            <a:endParaRPr b="0" i="0" sz="1500" u="none" cap="none" strike="noStrike">
              <a:solidFill>
                <a:schemeClr val="dk1"/>
              </a:solidFill>
              <a:latin typeface="Calibri"/>
              <a:ea typeface="Calibri"/>
              <a:cs typeface="Calibri"/>
              <a:sym typeface="Calibri"/>
            </a:endParaRPr>
          </a:p>
        </p:txBody>
      </p:sp>
      <p:sp>
        <p:nvSpPr>
          <p:cNvPr id="208" name="Google Shape;208;p24"/>
          <p:cNvSpPr txBox="1"/>
          <p:nvPr/>
        </p:nvSpPr>
        <p:spPr>
          <a:xfrm>
            <a:off x="548640" y="2542032"/>
            <a:ext cx="8046720" cy="21671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Cấm nghiệm thì tốn bộ nhớ và so sánh chậm; cấm nước đi chỉ cần một ma trận số nguyên nhỏ.</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Mỗi vòng: (1) chọn nước đi tốt nhất trong các nước KHÔNG bị cấm;</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(2) giảm cả ma trận đi 1, chặn dưới 0 — mọi lệnh cấm ngắn lại một nhịp;</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(3) cấm nước đi NGƯỢC LẠI của nước vừa chọn trong L* vòng.</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Việc (3) là linh hồn của Tabu Search: nó ngăn chính xác hành vi quay đầu.</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10 — Lệnh cấm có thể chặn mất nghiệm tốt nhất</a:t>
            </a:r>
            <a:endParaRPr b="0" i="0" sz="2600" u="none" cap="none" strike="noStrike">
              <a:solidFill>
                <a:schemeClr val="dk1"/>
              </a:solidFill>
              <a:latin typeface="Calibri"/>
              <a:ea typeface="Calibri"/>
              <a:cs typeface="Calibri"/>
              <a:sym typeface="Calibri"/>
            </a:endParaRPr>
          </a:p>
        </p:txBody>
      </p:sp>
      <p:sp>
        <p:nvSpPr>
          <p:cNvPr id="215" name="Google Shape;215;p25"/>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Cấm cứng nhắc thì có lúc nước đi đang bị cấm lại chính là nước dẫn tới nghiệm tốt nhất từ trước tới nay. Bỏ qua thì quá phí.</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Thêm tiêu chí khát vọng (aspiration criterion): nếu một nước đi bị cấm nhưng tạo ra nghiệm phá kỷ lục, gỡ lệnh cấm cho nó ngay.</a:t>
            </a:r>
            <a:endParaRPr b="0" i="0" sz="1500" u="none" cap="none" strike="noStrike">
              <a:solidFill>
                <a:schemeClr val="dk1"/>
              </a:solidFill>
              <a:latin typeface="Calibri"/>
              <a:ea typeface="Calibri"/>
              <a:cs typeface="Calibri"/>
              <a:sym typeface="Calibri"/>
            </a:endParaRPr>
          </a:p>
        </p:txBody>
      </p:sp>
      <p:sp>
        <p:nvSpPr>
          <p:cNvPr id="217" name="Google Shape;217;p25"/>
          <p:cNvSpPr/>
          <p:nvPr/>
        </p:nvSpPr>
        <p:spPr>
          <a:xfrm>
            <a:off x="548640" y="2542032"/>
            <a:ext cx="8046720" cy="1024128"/>
          </a:xfrm>
          <a:prstGeom prst="rect">
            <a:avLst/>
          </a:prstGeom>
          <a:solidFill>
            <a:srgbClr val="F7F7F7"/>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5"/>
          <p:cNvSpPr txBox="1"/>
          <p:nvPr/>
        </p:nvSpPr>
        <p:spPr>
          <a:xfrm>
            <a:off x="676656" y="2596896"/>
            <a:ext cx="7790688"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_, _, _, f, improved = evaluate(C, dataset, lamda, V, H)</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if improved:          L_im[i][m-1] = 0     # go cam - khat vong</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if L_im[i][m-1] == 0 and f &lt; V_dstar:      # chi xet nuoc di khong bi cam</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202020"/>
              </a:buClr>
              <a:buSzPts val="1200"/>
              <a:buFont typeface="Consolas"/>
              <a:buNone/>
            </a:pPr>
            <a:r>
              <a:rPr b="0" i="0" lang="en-US" sz="1200" u="none" cap="none" strike="noStrike">
                <a:solidFill>
                  <a:srgbClr val="202020"/>
                </a:solidFill>
                <a:latin typeface="Consolas"/>
                <a:ea typeface="Consolas"/>
                <a:cs typeface="Consolas"/>
                <a:sym typeface="Consolas"/>
              </a:rPr>
              <a:t>    V_dstar, S_dstar, k, n = f, copy(C), i, m</a:t>
            </a:r>
            <a:endParaRPr b="0" i="0" sz="1200" u="none" cap="none" strike="noStrike">
              <a:solidFill>
                <a:schemeClr val="dk1"/>
              </a:solidFill>
              <a:latin typeface="Calibri"/>
              <a:ea typeface="Calibri"/>
              <a:cs typeface="Calibri"/>
              <a:sym typeface="Calibri"/>
            </a:endParaRPr>
          </a:p>
        </p:txBody>
      </p:sp>
      <p:sp>
        <p:nvSpPr>
          <p:cNvPr id="219" name="Google Shape;219;p25"/>
          <p:cNvSpPr txBox="1"/>
          <p:nvPr/>
        </p:nvSpPr>
        <p:spPr>
          <a:xfrm>
            <a:off x="548640" y="3767328"/>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improved do chính evaluate trả về — hàm này cùng lúc giải mã, chấm điểm và phát tín hiệu khát vọng.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11 — Vậy L* nên bằng bao nhiêu?</a:t>
            </a:r>
            <a:endParaRPr b="0" i="0" sz="2600" u="none" cap="none" strike="noStrike">
              <a:solidFill>
                <a:schemeClr val="dk1"/>
              </a:solidFill>
              <a:latin typeface="Calibri"/>
              <a:ea typeface="Calibri"/>
              <a:cs typeface="Calibri"/>
              <a:sym typeface="Calibri"/>
            </a:endParaRPr>
          </a:p>
        </p:txBody>
      </p:sp>
      <p:sp>
        <p:nvSpPr>
          <p:cNvPr id="226" name="Google Shape;226;p26"/>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6"/>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L* là tham số tự do, không có công thức lý thuyết cho giá trị đúng, mà lại ảnh hưởng trực tiếp tới chất lượng nghiệm.</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Thử nghiệm: chạy L* ∈ {1, 2, 5, 7, 10, 15}, mỗi giá trị 30 lần, so sánh bằng boxplot. Đây chính là câu hỏi Q3.</a:t>
            </a:r>
            <a:endParaRPr b="0" i="0" sz="1500" u="none" cap="none" strike="noStrike">
              <a:solidFill>
                <a:schemeClr val="dk1"/>
              </a:solidFill>
              <a:latin typeface="Calibri"/>
              <a:ea typeface="Calibri"/>
              <a:cs typeface="Calibri"/>
              <a:sym typeface="Calibri"/>
            </a:endParaRPr>
          </a:p>
        </p:txBody>
      </p:sp>
      <p:graphicFrame>
        <p:nvGraphicFramePr>
          <p:cNvPr id="228" name="Google Shape;228;p26"/>
          <p:cNvGraphicFramePr/>
          <p:nvPr/>
        </p:nvGraphicFramePr>
        <p:xfrm>
          <a:off x="548640" y="2542032"/>
          <a:ext cx="3000000" cy="3000000"/>
        </p:xfrm>
        <a:graphic>
          <a:graphicData uri="http://schemas.openxmlformats.org/drawingml/2006/table">
            <a:tbl>
              <a:tblPr>
                <a:noFill/>
                <a:tableStyleId>{958AF3DF-7348-49FC-AE75-8EB5EBE1FCA2}</a:tableStyleId>
              </a:tblPr>
              <a:tblGrid>
                <a:gridCol w="1371600"/>
                <a:gridCol w="6675125"/>
              </a:tblGrid>
              <a:tr h="3840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L*</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Hành vi thuật toán</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nhỏ (1–2)</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Cấm ngắn → quay lại vùng cũ nhanh, khai thác sâu nhưng dễ kẹt</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vừa (5–10)</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Cân bằng — main.py chọn mặc định L* = 7</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384050">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lớn (15+)</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300"/>
                        <a:buFont typeface="Calibri"/>
                        <a:buNone/>
                      </a:pPr>
                      <a:r>
                        <a:rPr lang="en-US" sz="1300" u="none" cap="none" strike="noStrike">
                          <a:solidFill>
                            <a:srgbClr val="1A1A1A"/>
                          </a:solidFill>
                          <a:latin typeface="Calibri"/>
                          <a:ea typeface="Calibri"/>
                          <a:cs typeface="Calibri"/>
                          <a:sym typeface="Calibri"/>
                        </a:rPr>
                        <a:t>Cấm dài → khám phá mạnh nhưng có thể bỏ lỡ tinh chỉnh cuối</a:t>
                      </a:r>
                      <a:endParaRPr sz="13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12 — So sánh như vậy có công bằng không?</a:t>
            </a:r>
            <a:endParaRPr b="0" i="0" sz="2600" u="none" cap="none" strike="noStrike">
              <a:solidFill>
                <a:schemeClr val="dk1"/>
              </a:solidFill>
              <a:latin typeface="Calibri"/>
              <a:ea typeface="Calibri"/>
              <a:cs typeface="Calibri"/>
              <a:sym typeface="Calibri"/>
            </a:endParaRPr>
          </a:p>
        </p:txBody>
      </p:sp>
      <p:sp>
        <p:nvSpPr>
          <p:cNvPr id="235" name="Google Shape;235;p27"/>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Nếu Tabu Search được chạy lâu hơn Random Search thì nó thắng cũng chẳng chứng minh được gì.</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Đặt số vòng lặp sao cho tổng số lần đánh giá của Tabu Search bằng đúng ngân sách của Random Search.</a:t>
            </a:r>
            <a:endParaRPr b="0" i="0" sz="1500" u="none" cap="none" strike="noStrike">
              <a:solidFill>
                <a:schemeClr val="dk1"/>
              </a:solidFill>
              <a:latin typeface="Calibri"/>
              <a:ea typeface="Calibri"/>
              <a:cs typeface="Calibri"/>
              <a:sym typeface="Calibri"/>
            </a:endParaRPr>
          </a:p>
        </p:txBody>
      </p:sp>
      <p:sp>
        <p:nvSpPr>
          <p:cNvPr id="237" name="Google Shape;237;p27"/>
          <p:cNvSpPr/>
          <p:nvPr/>
        </p:nvSpPr>
        <p:spPr>
          <a:xfrm>
            <a:off x="548640" y="2542032"/>
            <a:ext cx="8046720" cy="107899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
          <p:cNvSpPr txBox="1"/>
          <p:nvPr/>
        </p:nvSpPr>
        <p:spPr>
          <a:xfrm>
            <a:off x="548640" y="2542032"/>
            <a:ext cx="8046720" cy="10789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T* = 500 · N / K</a:t>
            </a:r>
            <a:endParaRPr b="0" i="0" sz="18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T* × 2K = (500·N/K) × 2K = 1000 · N = max_evals</a:t>
            </a:r>
            <a:endParaRPr b="0" i="0" sz="1800" u="none" cap="none" strike="noStrike">
              <a:solidFill>
                <a:schemeClr val="dk1"/>
              </a:solidFill>
              <a:latin typeface="Calibri"/>
              <a:ea typeface="Calibri"/>
              <a:cs typeface="Calibri"/>
              <a:sym typeface="Calibri"/>
            </a:endParaRPr>
          </a:p>
        </p:txBody>
      </p:sp>
      <p:sp>
        <p:nvSpPr>
          <p:cNvPr id="239" name="Google Shape;239;p27"/>
          <p:cNvSpPr txBox="1"/>
          <p:nvPr/>
        </p:nvSpPr>
        <p:spPr>
          <a:xfrm>
            <a:off x="548640" y="3822192"/>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Không phải trùng hợp mà là thiết kế có chủ đích — mọi chênh lệch kết quả đều quy về chất lượng chiến lược tìm kiếm.</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nvSpPr>
        <p:spPr>
          <a:xfrm>
            <a:off x="731520" y="1828800"/>
            <a:ext cx="7680960" cy="1280160"/>
          </a:xfrm>
          <a:prstGeom prst="rect">
            <a:avLst/>
          </a:prstGeom>
          <a:noFill/>
          <a:ln>
            <a:noFill/>
          </a:ln>
        </p:spPr>
        <p:txBody>
          <a:bodyPr anchorCtr="0" anchor="ctr" bIns="0" lIns="0" spcFirstLastPara="1" rIns="0" wrap="square" tIns="0">
            <a:noAutofit/>
          </a:bodyPr>
          <a:lstStyle/>
          <a:p>
            <a:pPr indent="0" lvl="0" marL="0" marR="0" rtl="0" algn="ctr">
              <a:lnSpc>
                <a:spcPct val="142857"/>
              </a:lnSpc>
              <a:spcBef>
                <a:spcPts val="0"/>
              </a:spcBef>
              <a:spcAft>
                <a:spcPts val="0"/>
              </a:spcAft>
              <a:buClr>
                <a:srgbClr val="1F3864"/>
              </a:buClr>
              <a:buSzPts val="2800"/>
              <a:buFont typeface="Calibri"/>
              <a:buNone/>
            </a:pPr>
            <a:r>
              <a:rPr b="1" i="0" lang="en-US" sz="2800" u="none" cap="none" strike="noStrike">
                <a:solidFill>
                  <a:srgbClr val="1F3864"/>
                </a:solidFill>
                <a:latin typeface="Calibri"/>
                <a:ea typeface="Calibri"/>
                <a:cs typeface="Calibri"/>
                <a:sym typeface="Calibri"/>
              </a:rPr>
              <a:t>PHẦN IV</a:t>
            </a:r>
            <a:endParaRPr b="0" i="0" sz="2800" u="none" cap="none" strike="noStrike">
              <a:solidFill>
                <a:schemeClr val="dk1"/>
              </a:solidFill>
              <a:latin typeface="Calibri"/>
              <a:ea typeface="Calibri"/>
              <a:cs typeface="Calibri"/>
              <a:sym typeface="Calibri"/>
            </a:endParaRPr>
          </a:p>
          <a:p>
            <a:pPr indent="0" lvl="0" marL="0" marR="0" rtl="0" algn="ctr">
              <a:lnSpc>
                <a:spcPct val="142857"/>
              </a:lnSpc>
              <a:spcBef>
                <a:spcPts val="0"/>
              </a:spcBef>
              <a:spcAft>
                <a:spcPts val="0"/>
              </a:spcAft>
              <a:buClr>
                <a:srgbClr val="1F3864"/>
              </a:buClr>
              <a:buSzPts val="2800"/>
              <a:buFont typeface="Calibri"/>
              <a:buNone/>
            </a:pPr>
            <a:r>
              <a:rPr b="1" i="0" lang="en-US" sz="2800" u="none" cap="none" strike="noStrike">
                <a:solidFill>
                  <a:srgbClr val="1F3864"/>
                </a:solidFill>
                <a:latin typeface="Calibri"/>
                <a:ea typeface="Calibri"/>
                <a:cs typeface="Calibri"/>
                <a:sym typeface="Calibri"/>
              </a:rPr>
              <a:t>Từ một nghiệm đến cả biên hiệu quả</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Quay lại vấn đề còn treo: chọn λ nào?</a:t>
            </a:r>
            <a:endParaRPr b="0" i="0" sz="2600" u="none" cap="none" strike="noStrike">
              <a:solidFill>
                <a:schemeClr val="dk1"/>
              </a:solidFill>
              <a:latin typeface="Calibri"/>
              <a:ea typeface="Calibri"/>
              <a:cs typeface="Calibri"/>
              <a:sym typeface="Calibri"/>
            </a:endParaRPr>
          </a:p>
        </p:txBody>
      </p:sp>
      <p:sp>
        <p:nvSpPr>
          <p:cNvPr id="252" name="Google Shape;252;p29"/>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9"/>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Ta đã tạm cố định λ = 0.5. Nhưng mỗi nhà đầu tư một khẩu vị rủi ro, không có giá trị nào đúng cho tất cả.</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Không chọn. Quét đều 50 giá trị λ, giải bài toán riêng cho từng giá trị, rồi trình bày cả tập nghiệm cho nhà đầu tư tự chọn.</a:t>
            </a:r>
            <a:endParaRPr b="0" i="0" sz="1500" u="none" cap="none" strike="noStrike">
              <a:solidFill>
                <a:schemeClr val="dk1"/>
              </a:solidFill>
              <a:latin typeface="Calibri"/>
              <a:ea typeface="Calibri"/>
              <a:cs typeface="Calibri"/>
              <a:sym typeface="Calibri"/>
            </a:endParaRPr>
          </a:p>
        </p:txBody>
      </p:sp>
      <p:sp>
        <p:nvSpPr>
          <p:cNvPr id="254" name="Google Shape;254;p29"/>
          <p:cNvSpPr/>
          <p:nvPr/>
        </p:nvSpPr>
        <p:spPr>
          <a:xfrm>
            <a:off x="548640" y="2542032"/>
            <a:ext cx="8046720" cy="71323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9"/>
          <p:cNvSpPr txBox="1"/>
          <p:nvPr/>
        </p:nvSpPr>
        <p:spPr>
          <a:xfrm>
            <a:off x="548640" y="2542032"/>
            <a:ext cx="80467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λₑ = (e − 1) / (E − 1),   e = 1, 2, …, 50</a:t>
            </a:r>
            <a:endParaRPr b="0" i="0" sz="1800" u="none" cap="none" strike="noStrike">
              <a:solidFill>
                <a:schemeClr val="dk1"/>
              </a:solidFill>
              <a:latin typeface="Calibri"/>
              <a:ea typeface="Calibri"/>
              <a:cs typeface="Calibri"/>
              <a:sym typeface="Calibri"/>
            </a:endParaRPr>
          </a:p>
        </p:txBody>
      </p:sp>
      <p:sp>
        <p:nvSpPr>
          <p:cNvPr id="256" name="Google Shape;256;p29"/>
          <p:cNvSpPr txBox="1"/>
          <p:nvPr/>
        </p:nvSpPr>
        <p:spPr>
          <a:xfrm>
            <a:off x="548640" y="3456432"/>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1" lang="en-US" sz="1400" u="none" cap="none" strike="noStrike">
                <a:solidFill>
                  <a:srgbClr val="555555"/>
                </a:solidFill>
                <a:latin typeface="Calibri"/>
                <a:ea typeface="Calibri"/>
                <a:cs typeface="Calibri"/>
                <a:sym typeface="Calibri"/>
              </a:rPr>
              <a:t>Đây là lý do Q4 tốn thời gian nhất: toàn bộ thuật toán chạy lại 50 lần. Đổi lại ta có cả một danh mục lựa chọn thay vì một lời khuyên duy nhất.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13 — Nhiều nghiệm thu được là vô nghĩa</a:t>
            </a:r>
            <a:endParaRPr b="0" i="0" sz="2600" u="none" cap="none" strike="noStrike">
              <a:solidFill>
                <a:schemeClr val="dk1"/>
              </a:solidFill>
              <a:latin typeface="Calibri"/>
              <a:ea typeface="Calibri"/>
              <a:cs typeface="Calibri"/>
              <a:sym typeface="Calibri"/>
            </a:endParaRPr>
          </a:p>
        </p:txBody>
      </p:sp>
      <p:sp>
        <p:nvSpPr>
          <p:cNvPr id="263" name="Google Shape;263;p30"/>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Trong hàng nghìn nghiệm, rất nhiều cái vừa lãi thấp hơn vừa rủi ro cao hơn một nghiệm khác. Không ai chọn chúng, nhưng chúng vẫn làm nhiễu kết quả.</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Lọc bằng quan hệ trội Pareto: chỉ giữ lại những nghiệm không bị nghiệm nào lấn át.</a:t>
            </a:r>
            <a:endParaRPr b="0" i="0" sz="1500" u="none" cap="none" strike="noStrike">
              <a:solidFill>
                <a:schemeClr val="dk1"/>
              </a:solidFill>
              <a:latin typeface="Calibri"/>
              <a:ea typeface="Calibri"/>
              <a:cs typeface="Calibri"/>
              <a:sym typeface="Calibri"/>
            </a:endParaRPr>
          </a:p>
        </p:txBody>
      </p:sp>
      <p:sp>
        <p:nvSpPr>
          <p:cNvPr id="265" name="Google Shape;265;p30"/>
          <p:cNvSpPr/>
          <p:nvPr/>
        </p:nvSpPr>
        <p:spPr>
          <a:xfrm>
            <a:off x="548640" y="2542032"/>
            <a:ext cx="8046720" cy="71323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0"/>
          <p:cNvSpPr txBox="1"/>
          <p:nvPr/>
        </p:nvSpPr>
        <p:spPr>
          <a:xfrm>
            <a:off x="548640" y="2542032"/>
            <a:ext cx="80467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3864"/>
              </a:buClr>
              <a:buSzPts val="1800"/>
              <a:buFont typeface="Cambria"/>
              <a:buNone/>
            </a:pPr>
            <a:r>
              <a:rPr b="0" i="0" lang="en-US" sz="1800" u="none" cap="none" strike="noStrike">
                <a:solidFill>
                  <a:srgbClr val="1F3864"/>
                </a:solidFill>
                <a:latin typeface="Cambria"/>
                <a:ea typeface="Cambria"/>
                <a:cs typeface="Cambria"/>
                <a:sym typeface="Cambria"/>
              </a:rPr>
              <a:t>A trội hơn B  ⇔  R_A ≥ R_B  và  σ²_A ≤ σ²_B</a:t>
            </a:r>
            <a:endParaRPr b="0" i="0" sz="1800" u="none" cap="none" strike="noStrike">
              <a:solidFill>
                <a:schemeClr val="dk1"/>
              </a:solidFill>
              <a:latin typeface="Calibri"/>
              <a:ea typeface="Calibri"/>
              <a:cs typeface="Calibri"/>
              <a:sym typeface="Calibri"/>
            </a:endParaRPr>
          </a:p>
        </p:txBody>
      </p:sp>
      <p:sp>
        <p:nvSpPr>
          <p:cNvPr id="267" name="Google Shape;267;p30"/>
          <p:cNvSpPr txBox="1"/>
          <p:nvPr/>
        </p:nvSpPr>
        <p:spPr>
          <a:xfrm>
            <a:off x="548640" y="3456432"/>
            <a:ext cx="8046720" cy="12527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Tập nghiệm không bị ai trội = tập Pareto tối ưu → vẽ lên mặt phẳng (rủi ro, lợi nhuận) chính là biên hiệu quả.</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Kho H lưu mọi nghiệm phá kỷ lục dọc đường, không chỉ 50 nghiệm cuối — nếu không sẽ vứt bỏ hàng nghìn nghiệm tốt.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1"/>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14 — Biên bị đứt đoạn và còn thiếu điểm</a:t>
            </a:r>
            <a:endParaRPr b="0" i="0" sz="2600" u="none" cap="none" strike="noStrike">
              <a:solidFill>
                <a:schemeClr val="dk1"/>
              </a:solidFill>
              <a:latin typeface="Calibri"/>
              <a:ea typeface="Calibri"/>
              <a:cs typeface="Calibri"/>
              <a:sym typeface="Calibri"/>
            </a:endParaRPr>
          </a:p>
        </p:txBody>
      </p:sp>
      <p:sp>
        <p:nvSpPr>
          <p:cNvPr id="274" name="Google Shape;274;p31"/>
          <p:cNvSpPr/>
          <p:nvPr/>
        </p:nvSpPr>
        <p:spPr>
          <a:xfrm>
            <a:off x="548640" y="1051560"/>
            <a:ext cx="8046720" cy="1024128"/>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1"/>
          <p:cNvSpPr txBox="1"/>
          <p:nvPr/>
        </p:nvSpPr>
        <p:spPr>
          <a:xfrm>
            <a:off x="713232" y="1051560"/>
            <a:ext cx="7717536"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Vẽ biên ra thì nó không trơn như trong sách Markowitz mà đứt thành nhiều đoạn. Thêm nữa, có những điểm Pareto tối ưu mà quét λ không bao giờ tìm được.</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Đây không phải lỗi cài đặt mà là hai tính chất thật của bài toán.</a:t>
            </a:r>
            <a:endParaRPr b="0" i="0" sz="1500" u="none" cap="none" strike="noStrike">
              <a:solidFill>
                <a:schemeClr val="dk1"/>
              </a:solidFill>
              <a:latin typeface="Calibri"/>
              <a:ea typeface="Calibri"/>
              <a:cs typeface="Calibri"/>
              <a:sym typeface="Calibri"/>
            </a:endParaRPr>
          </a:p>
        </p:txBody>
      </p:sp>
      <p:sp>
        <p:nvSpPr>
          <p:cNvPr id="276" name="Google Shape;276;p31"/>
          <p:cNvSpPr txBox="1"/>
          <p:nvPr/>
        </p:nvSpPr>
        <p:spPr>
          <a:xfrm>
            <a:off x="548640" y="2304288"/>
            <a:ext cx="8046720" cy="2404872"/>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Đứt đoạn: ràng buộc đúng K tài sản làm miền khả thi vỡ thành C(N,K) mảnh rời rạc → phát hiện trung tâm của Chang và cộng sự (2000).</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Thực tiễn: có những mức rủi ro mà không danh mục 10 tài sản nào đạt tới được.</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Thiếu điểm: weighted-sum chỉ tìm được các điểm trên phần bao lồi, bỏ sót vùng lõm — mà ràng buộc lực lượng chính là thứ làm biên không lồi.</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Hướng khắc phục: phương pháp ε-constraint hoặc NSGA-II, làm việc trực tiếp với quan hệ trội.</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2"/>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Vấn đề 15 — Một lần chạy không nói lên điều gì</a:t>
            </a:r>
            <a:endParaRPr b="0" i="0" sz="2600" u="none" cap="none" strike="noStrike">
              <a:solidFill>
                <a:schemeClr val="dk1"/>
              </a:solidFill>
              <a:latin typeface="Calibri"/>
              <a:ea typeface="Calibri"/>
              <a:cs typeface="Calibri"/>
              <a:sym typeface="Calibri"/>
            </a:endParaRPr>
          </a:p>
        </p:txBody>
      </p:sp>
      <p:sp>
        <p:nvSpPr>
          <p:cNvPr id="283" name="Google Shape;283;p32"/>
          <p:cNvSpPr/>
          <p:nvPr/>
        </p:nvSpPr>
        <p:spPr>
          <a:xfrm>
            <a:off x="548640" y="1051560"/>
            <a:ext cx="8046720" cy="1261872"/>
          </a:xfrm>
          <a:prstGeom prst="rect">
            <a:avLst/>
          </a:prstGeom>
          <a:solidFill>
            <a:srgbClr val="F2F2F2"/>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2"/>
          <p:cNvSpPr txBox="1"/>
          <p:nvPr/>
        </p:nvSpPr>
        <p:spPr>
          <a:xfrm>
            <a:off x="713232" y="1051560"/>
            <a:ext cx="7717536"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Vấn đề:  </a:t>
            </a:r>
            <a:r>
              <a:rPr b="0" i="0" lang="en-US" sz="1500" u="none" cap="none" strike="noStrike">
                <a:solidFill>
                  <a:srgbClr val="1A1A1A"/>
                </a:solidFill>
                <a:latin typeface="Calibri"/>
                <a:ea typeface="Calibri"/>
                <a:cs typeface="Calibri"/>
                <a:sym typeface="Calibri"/>
              </a:rPr>
              <a:t>Cả hai thuật toán đều ngẫu nhiên. Chạy một lần thấy Tabu Search thắng thì có thể chỉ là may mắn của lần đó.</a:t>
            </a:r>
            <a:endParaRPr b="0" i="0" sz="15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1F3864"/>
              </a:buClr>
              <a:buSzPts val="1500"/>
              <a:buFont typeface="Calibri"/>
              <a:buNone/>
            </a:pPr>
            <a:r>
              <a:rPr b="1" i="0" lang="en-US" sz="1500" u="none" cap="none" strike="noStrike">
                <a:solidFill>
                  <a:srgbClr val="1F3864"/>
                </a:solidFill>
                <a:latin typeface="Calibri"/>
                <a:ea typeface="Calibri"/>
                <a:cs typeface="Calibri"/>
                <a:sym typeface="Calibri"/>
              </a:rPr>
              <a:t>Cách xử lý:  </a:t>
            </a:r>
            <a:r>
              <a:rPr b="0" i="0" lang="en-US" sz="1500" u="none" cap="none" strike="noStrike">
                <a:solidFill>
                  <a:srgbClr val="1A1A1A"/>
                </a:solidFill>
                <a:latin typeface="Calibri"/>
                <a:ea typeface="Calibri"/>
                <a:cs typeface="Calibri"/>
                <a:sym typeface="Calibri"/>
              </a:rPr>
              <a:t>Chạy lại mỗi cấu hình 30 lần với 30 hạt giống khác nhau, so sánh phân phối chứ không so sánh một con số.</a:t>
            </a:r>
            <a:endParaRPr b="0" i="0" sz="1500" u="none" cap="none" strike="noStrike">
              <a:solidFill>
                <a:schemeClr val="dk1"/>
              </a:solidFill>
              <a:latin typeface="Calibri"/>
              <a:ea typeface="Calibri"/>
              <a:cs typeface="Calibri"/>
              <a:sym typeface="Calibri"/>
            </a:endParaRPr>
          </a:p>
        </p:txBody>
      </p:sp>
      <p:sp>
        <p:nvSpPr>
          <p:cNvPr id="285" name="Google Shape;285;p32"/>
          <p:cNvSpPr txBox="1"/>
          <p:nvPr/>
        </p:nvSpPr>
        <p:spPr>
          <a:xfrm>
            <a:off x="548640" y="2542032"/>
            <a:ext cx="8046720" cy="216712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30 là ngưỡng quy ước để định lý giới hạn trung tâm bắt đầu có hiệu lực.</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Boxplot: hộp = 50% số lần chạy ở giữa (hộp ngắn = ổn định); vạch giữa = trung vị; râu = 1,5 × IQR; dấu cộng đỏ = ngoại lai.</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Nhìn cả trung vị lẫn độ lệch chuẩn — ổn định thường đáng giá hơn thỉnh thoảng rất tốt.</a:t>
            </a:r>
            <a:endParaRPr b="0" i="0" sz="150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1A1A1A"/>
              </a:buClr>
              <a:buSzPts val="1500"/>
              <a:buFont typeface="Calibri"/>
              <a:buChar char="•"/>
            </a:pPr>
            <a:r>
              <a:rPr b="0" i="0" lang="en-US" sz="1500" u="none" cap="none" strike="noStrike">
                <a:solidFill>
                  <a:srgbClr val="1A1A1A"/>
                </a:solidFill>
                <a:latin typeface="Calibri"/>
                <a:ea typeface="Calibri"/>
                <a:cs typeface="Calibri"/>
                <a:sym typeface="Calibri"/>
              </a:rPr>
              <a:t>Lợi nhuận quy ra tiền thật: chênh 0,001 trong R là một triệu đồng trên vốn một tỷ.</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nvSpPr>
        <p:spPr>
          <a:xfrm>
            <a:off x="548640" y="29260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600"/>
              <a:buFont typeface="Calibri"/>
              <a:buNone/>
            </a:pPr>
            <a:r>
              <a:rPr b="1" i="0" lang="en-US" sz="2600" u="none" cap="none" strike="noStrike">
                <a:solidFill>
                  <a:srgbClr val="1F3864"/>
                </a:solidFill>
                <a:latin typeface="Calibri"/>
                <a:ea typeface="Calibri"/>
                <a:cs typeface="Calibri"/>
                <a:sym typeface="Calibri"/>
              </a:rPr>
              <a:t>Bốn câu hỏi nghiên cứu trả lời vấn đề nào?</a:t>
            </a:r>
            <a:endParaRPr b="0" i="0" sz="2600" u="none" cap="none" strike="noStrike">
              <a:solidFill>
                <a:schemeClr val="dk1"/>
              </a:solidFill>
              <a:latin typeface="Calibri"/>
              <a:ea typeface="Calibri"/>
              <a:cs typeface="Calibri"/>
              <a:sym typeface="Calibri"/>
            </a:endParaRPr>
          </a:p>
        </p:txBody>
      </p:sp>
      <p:graphicFrame>
        <p:nvGraphicFramePr>
          <p:cNvPr id="292" name="Google Shape;292;p33"/>
          <p:cNvGraphicFramePr/>
          <p:nvPr/>
        </p:nvGraphicFramePr>
        <p:xfrm>
          <a:off x="548640" y="1097280"/>
          <a:ext cx="3000000" cy="3000000"/>
        </p:xfrm>
        <a:graphic>
          <a:graphicData uri="http://schemas.openxmlformats.org/drawingml/2006/table">
            <a:tbl>
              <a:tblPr>
                <a:noFill/>
                <a:tableStyleId>{958AF3DF-7348-49FC-AE75-8EB5EBE1FCA2}</a:tableStyleId>
              </a:tblPr>
              <a:tblGrid>
                <a:gridCol w="731525"/>
                <a:gridCol w="4206250"/>
                <a:gridCol w="3108950"/>
              </a:tblGrid>
              <a:tr h="411475">
                <a:tc>
                  <a:txBody>
                    <a:bodyPr/>
                    <a:lstStyle/>
                    <a:p>
                      <a:pPr indent="0" lvl="0" marL="0" marR="0" rtl="0" algn="l">
                        <a:spcBef>
                          <a:spcPts val="0"/>
                        </a:spcBef>
                        <a:spcAft>
                          <a:spcPts val="0"/>
                        </a:spcAft>
                        <a:buClr>
                          <a:schemeClr val="dk1"/>
                        </a:buClr>
                        <a:buSzPts val="1400"/>
                        <a:buFont typeface="Calibri"/>
                        <a:buNone/>
                      </a:pPr>
                      <a:r>
                        <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Trả lời vấn đề</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Cấu hình</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1F3864"/>
                    </a:solidFill>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Q1</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Vấn đề 6 — baseline tốt đến đâu</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E = 1 (λ = 0.5), 30 hạt giống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Q2</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Vấn đề 12 — TS có hơn RS không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E = 1, L* = 7, 30 hạt giống</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Q3</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Vấn đề 11 — L* bằng bao nhiêu</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L* ∈ {1,2,5,7,10,15}</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Q4</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Vấn đề 13, 14 — dựng biên hiệu quả</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400"/>
                        <a:buFont typeface="Calibri"/>
                        <a:buNone/>
                      </a:pPr>
                      <a:r>
                        <a:rPr lang="en-US" sz="1400" u="none" cap="none" strike="noStrike">
                          <a:solidFill>
                            <a:srgbClr val="1A1A1A"/>
                          </a:solidFill>
                          <a:latin typeface="Calibri"/>
                          <a:ea typeface="Calibri"/>
                          <a:cs typeface="Calibri"/>
                          <a:sym typeface="Calibri"/>
                        </a:rPr>
                        <a:t>E = 50 giá trị λ, L* tốt nhất</a:t>
                      </a:r>
                      <a:endParaRPr sz="1400" u="none" cap="none" strike="noStrike">
                        <a:latin typeface="Calibri"/>
                        <a:ea typeface="Calibri"/>
                        <a:cs typeface="Calibri"/>
                        <a:sym typeface="Calibri"/>
                      </a:endParaRPr>
                    </a:p>
                  </a:txBody>
                  <a:tcPr marT="76200" marB="76200" marR="76200" marL="76200" anchor="ctr">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